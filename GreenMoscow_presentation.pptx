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2" r:id="rId2"/>
    <p:sldId id="263" r:id="rId3"/>
    <p:sldId id="264" r:id="rId4"/>
    <p:sldId id="265" r:id="rId5"/>
    <p:sldId id="266" r:id="rId6"/>
    <p:sldId id="279" r:id="rId7"/>
    <p:sldId id="275" r:id="rId8"/>
    <p:sldId id="268" r:id="rId9"/>
    <p:sldId id="280" r:id="rId10"/>
    <p:sldId id="272" r:id="rId11"/>
    <p:sldId id="269" r:id="rId12"/>
    <p:sldId id="270" r:id="rId13"/>
    <p:sldId id="293" r:id="rId14"/>
    <p:sldId id="294" r:id="rId15"/>
    <p:sldId id="276" r:id="rId16"/>
    <p:sldId id="277" r:id="rId17"/>
    <p:sldId id="282" r:id="rId18"/>
    <p:sldId id="295" r:id="rId19"/>
    <p:sldId id="271" r:id="rId20"/>
    <p:sldId id="267" r:id="rId21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14" y="114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7999999999998E-2"/>
          <c:y val="0.12693499999999999"/>
          <c:w val="0.92608599999999996"/>
          <c:h val="0.667471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Деревья</c:v>
                </c:pt>
              </c:strCache>
            </c:strRef>
          </c:tx>
          <c:spPr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Олимпийская</c:v>
                </c:pt>
                <c:pt idx="1">
                  <c:v>Песчаный</c:v>
                </c:pt>
                <c:pt idx="2">
                  <c:v>3-я Парковая</c:v>
                </c:pt>
                <c:pt idx="3">
                  <c:v>Харьковская</c:v>
                </c:pt>
                <c:pt idx="4">
                  <c:v>Багрицкого</c:v>
                </c:pt>
                <c:pt idx="5">
                  <c:v>Камчатская</c:v>
                </c:pt>
                <c:pt idx="6">
                  <c:v>Нижние Поля</c:v>
                </c:pt>
                <c:pt idx="7">
                  <c:v>Лодочная</c:v>
                </c:pt>
                <c:pt idx="8">
                  <c:v>Измайловская</c:v>
                </c:pt>
                <c:pt idx="9">
                  <c:v>Старый Гай</c:v>
                </c:pt>
                <c:pt idx="10">
                  <c:v>Наташинский</c:v>
                </c:pt>
                <c:pt idx="11">
                  <c:v>Харьк. проезд</c:v>
                </c:pt>
                <c:pt idx="12">
                  <c:v>Куликовская</c:v>
                </c:pt>
                <c:pt idx="13">
                  <c:v>Понтрягина</c:v>
                </c:pt>
                <c:pt idx="14">
                  <c:v>Берзарина</c:v>
                </c:pt>
                <c:pt idx="15">
                  <c:v>М. Грузинская</c:v>
                </c:pt>
                <c:pt idx="16">
                  <c:v>Кустанайская</c:v>
                </c:pt>
                <c:pt idx="17">
                  <c:v>2-я Прядильная</c:v>
                </c:pt>
                <c:pt idx="18">
                  <c:v>Макеева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226</c:v>
                </c:pt>
                <c:pt idx="1">
                  <c:v>164</c:v>
                </c:pt>
                <c:pt idx="2">
                  <c:v>355</c:v>
                </c:pt>
                <c:pt idx="3">
                  <c:v>132</c:v>
                </c:pt>
                <c:pt idx="4">
                  <c:v>133</c:v>
                </c:pt>
                <c:pt idx="5">
                  <c:v>199</c:v>
                </c:pt>
                <c:pt idx="6">
                  <c:v>174</c:v>
                </c:pt>
                <c:pt idx="7">
                  <c:v>73</c:v>
                </c:pt>
                <c:pt idx="8">
                  <c:v>268</c:v>
                </c:pt>
                <c:pt idx="9">
                  <c:v>133</c:v>
                </c:pt>
                <c:pt idx="10">
                  <c:v>78</c:v>
                </c:pt>
                <c:pt idx="11">
                  <c:v>159</c:v>
                </c:pt>
                <c:pt idx="12">
                  <c:v>122</c:v>
                </c:pt>
                <c:pt idx="13">
                  <c:v>67</c:v>
                </c:pt>
                <c:pt idx="14">
                  <c:v>0</c:v>
                </c:pt>
                <c:pt idx="15">
                  <c:v>21</c:v>
                </c:pt>
                <c:pt idx="16">
                  <c:v>242</c:v>
                </c:pt>
                <c:pt idx="17">
                  <c:v>134</c:v>
                </c:pt>
                <c:pt idx="18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B7-4888-80F0-4C023288FE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Кустарники</c:v>
                </c:pt>
              </c:strCache>
            </c:strRef>
          </c:tx>
          <c:spPr>
            <a:prstGeom prst="rect">
              <a:avLst/>
            </a:prstGeom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Олимпийская</c:v>
                </c:pt>
                <c:pt idx="1">
                  <c:v>Песчаный</c:v>
                </c:pt>
                <c:pt idx="2">
                  <c:v>3-я Парковая</c:v>
                </c:pt>
                <c:pt idx="3">
                  <c:v>Харьковская</c:v>
                </c:pt>
                <c:pt idx="4">
                  <c:v>Багрицкого</c:v>
                </c:pt>
                <c:pt idx="5">
                  <c:v>Камчатская</c:v>
                </c:pt>
                <c:pt idx="6">
                  <c:v>Нижние Поля</c:v>
                </c:pt>
                <c:pt idx="7">
                  <c:v>Лодочная</c:v>
                </c:pt>
                <c:pt idx="8">
                  <c:v>Измайловская</c:v>
                </c:pt>
                <c:pt idx="9">
                  <c:v>Старый Гай</c:v>
                </c:pt>
                <c:pt idx="10">
                  <c:v>Наташинский</c:v>
                </c:pt>
                <c:pt idx="11">
                  <c:v>Харьк. проезд</c:v>
                </c:pt>
                <c:pt idx="12">
                  <c:v>Куликовская</c:v>
                </c:pt>
                <c:pt idx="13">
                  <c:v>Понтрягина</c:v>
                </c:pt>
                <c:pt idx="14">
                  <c:v>Берзарина</c:v>
                </c:pt>
                <c:pt idx="15">
                  <c:v>М. Грузинская</c:v>
                </c:pt>
                <c:pt idx="16">
                  <c:v>Кустанайская</c:v>
                </c:pt>
                <c:pt idx="17">
                  <c:v>2-я Прядильная</c:v>
                </c:pt>
                <c:pt idx="18">
                  <c:v>Макеева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907</c:v>
                </c:pt>
                <c:pt idx="1">
                  <c:v>658</c:v>
                </c:pt>
                <c:pt idx="2">
                  <c:v>1619</c:v>
                </c:pt>
                <c:pt idx="3">
                  <c:v>529</c:v>
                </c:pt>
                <c:pt idx="4">
                  <c:v>1096</c:v>
                </c:pt>
                <c:pt idx="5">
                  <c:v>796</c:v>
                </c:pt>
                <c:pt idx="6">
                  <c:v>924</c:v>
                </c:pt>
                <c:pt idx="7">
                  <c:v>911</c:v>
                </c:pt>
                <c:pt idx="8">
                  <c:v>2757</c:v>
                </c:pt>
                <c:pt idx="9">
                  <c:v>530</c:v>
                </c:pt>
                <c:pt idx="10">
                  <c:v>797</c:v>
                </c:pt>
                <c:pt idx="11">
                  <c:v>1614</c:v>
                </c:pt>
                <c:pt idx="12">
                  <c:v>1192</c:v>
                </c:pt>
                <c:pt idx="13">
                  <c:v>632</c:v>
                </c:pt>
                <c:pt idx="14">
                  <c:v>0</c:v>
                </c:pt>
                <c:pt idx="15">
                  <c:v>117</c:v>
                </c:pt>
                <c:pt idx="16">
                  <c:v>1734</c:v>
                </c:pt>
                <c:pt idx="17">
                  <c:v>840</c:v>
                </c:pt>
                <c:pt idx="18">
                  <c:v>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B7-4888-80F0-4C023288F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>
                <a:solidFill>
                  <a:srgbClr val="FFFFFF"/>
                </a:solidFill>
                <a:latin typeface="Montserrat"/>
                <a:ea typeface="Arial"/>
                <a:cs typeface="Arial"/>
              </a:defRPr>
            </a:pPr>
            <a:endParaRPr lang="en-US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3000"/>
          <c:min val="0"/>
        </c:scaling>
        <c:delete val="0"/>
        <c:axPos val="l"/>
        <c:majorGridlines>
          <c:spPr>
            <a:prstGeom prst="rect">
              <a:avLst/>
            </a:prstGeom>
            <a:ln w="9525" cap="flat" cmpd="sng" algn="ctr">
              <a:solidFill>
                <a:srgbClr val="8A83D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>
                <a:solidFill>
                  <a:srgbClr val="FFFFFF"/>
                </a:solidFill>
                <a:latin typeface="Montserrat"/>
                <a:ea typeface="Arial"/>
                <a:cs typeface="Arial"/>
              </a:defRPr>
            </a:pPr>
            <a:endParaRPr lang="en-US"/>
          </a:p>
        </c:txPr>
        <c:crossAx val="1688540351"/>
        <c:crosses val="autoZero"/>
        <c:crossBetween val="between"/>
        <c:majorUnit val="500"/>
      </c:valAx>
      <c:spPr>
        <a:noFill/>
      </c:spPr>
    </c:plotArea>
    <c:legend>
      <c:legendPos val="t"/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>
              <a:solidFill>
                <a:srgbClr val="FFFFFF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xfrm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499999999999"/>
          <c:w val="0.86424199999999995"/>
          <c:h val="0.6674710000000000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Посадки эталона ближе норм</c:v>
                </c:pt>
              </c:strCache>
            </c:strRef>
          </c:tx>
          <c:spPr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prstGeom prst="rect">
                <a:avLst/>
              </a:prstGeom>
              <a:solidFill>
                <a:srgbClr val="8A83D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38-498A-A4C1-8C88A00B3CAC}"/>
              </c:ext>
            </c:extLst>
          </c:dPt>
          <c:dPt>
            <c:idx val="1"/>
            <c:invertIfNegative val="0"/>
            <c:bubble3D val="0"/>
            <c:spPr>
              <a:prstGeom prst="rect">
                <a:avLst/>
              </a:prstGeom>
              <a:solidFill>
                <a:srgbClr val="8A83D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538-498A-A4C1-8C88A00B3CAC}"/>
              </c:ext>
            </c:extLst>
          </c:dPt>
          <c:dPt>
            <c:idx val="2"/>
            <c:invertIfNegative val="0"/>
            <c:bubble3D val="0"/>
            <c:spPr>
              <a:prstGeom prst="rect">
                <a:avLst/>
              </a:prstGeom>
              <a:solidFill>
                <a:srgbClr val="FF005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538-498A-A4C1-8C88A00B3CAC}"/>
              </c:ext>
            </c:extLst>
          </c:dPt>
          <c:dPt>
            <c:idx val="3"/>
            <c:invertIfNegative val="0"/>
            <c:bubble3D val="0"/>
            <c:spPr>
              <a:prstGeom prst="rect">
                <a:avLst/>
              </a:prstGeom>
              <a:solidFill>
                <a:srgbClr val="FF005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538-498A-A4C1-8C88A00B3CAC}"/>
              </c:ext>
            </c:extLst>
          </c:dPt>
          <c:dPt>
            <c:idx val="4"/>
            <c:invertIfNegative val="1"/>
            <c:bubble3D val="0"/>
            <c:spPr>
              <a:solidFill>
                <a:srgbClr val="FF005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538-498A-A4C1-8C88A00B3CAC}"/>
              </c:ext>
            </c:extLst>
          </c:dPt>
          <c:dPt>
            <c:idx val="5"/>
            <c:invertIfNegative val="1"/>
            <c:bubble3D val="0"/>
            <c:spPr>
              <a:solidFill>
                <a:srgbClr val="FF005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538-498A-A4C1-8C88A00B3CAC}"/>
              </c:ext>
            </c:extLst>
          </c:dPt>
          <c:dPt>
            <c:idx val="6"/>
            <c:invertIfNegative val="1"/>
            <c:bubble3D val="0"/>
            <c:spPr>
              <a:solidFill>
                <a:srgbClr val="FF005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538-498A-A4C1-8C88A00B3CAC}"/>
              </c:ext>
            </c:extLst>
          </c:dPt>
          <c:dPt>
            <c:idx val="7"/>
            <c:invertIfNegative val="1"/>
            <c:bubble3D val="0"/>
            <c:spPr>
              <a:solidFill>
                <a:srgbClr val="FF005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5F2-4C6A-9117-F8262F88FB2B}"/>
              </c:ext>
            </c:extLst>
          </c:dPt>
          <c:cat>
            <c:strRef>
              <c:f>Sheet1!$A$2:$A$9</c:f>
              <c:strCache>
                <c:ptCount val="8"/>
                <c:pt idx="0">
                  <c:v>Старый Гай</c:v>
                </c:pt>
                <c:pt idx="1">
                  <c:v>Харьк. проезд</c:v>
                </c:pt>
                <c:pt idx="2">
                  <c:v>Олимпийская</c:v>
                </c:pt>
                <c:pt idx="3">
                  <c:v>Куликовская</c:v>
                </c:pt>
                <c:pt idx="4">
                  <c:v>Харьковская</c:v>
                </c:pt>
                <c:pt idx="5">
                  <c:v>Камчатская</c:v>
                </c:pt>
                <c:pt idx="6">
                  <c:v>Багрицкого</c:v>
                </c:pt>
                <c:pt idx="7">
                  <c:v>Наташинский</c:v>
                </c:pt>
              </c:strCache>
            </c:strRef>
          </c:cat>
          <c:val>
            <c:numRef>
              <c:f>Sheet1!$B$2:$B$9</c:f>
              <c:numCache>
                <c:formatCode>0"%"</c:formatCode>
                <c:ptCount val="8"/>
                <c:pt idx="0">
                  <c:v>2</c:v>
                </c:pt>
                <c:pt idx="1">
                  <c:v>12</c:v>
                </c:pt>
                <c:pt idx="2">
                  <c:v>27</c:v>
                </c:pt>
                <c:pt idx="3">
                  <c:v>30</c:v>
                </c:pt>
                <c:pt idx="4">
                  <c:v>32</c:v>
                </c:pt>
                <c:pt idx="5">
                  <c:v>51</c:v>
                </c:pt>
                <c:pt idx="6">
                  <c:v>52</c:v>
                </c:pt>
                <c:pt idx="7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538-498A-A4C1-8C88A00B3C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baseline="0">
                <a:solidFill>
                  <a:srgbClr val="1C1D22"/>
                </a:solidFill>
                <a:latin typeface="Montserrat"/>
                <a:ea typeface="Arial"/>
                <a:cs typeface="Arial"/>
              </a:defRPr>
            </a:pPr>
            <a:endParaRPr lang="en-US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"/>
          <c:min val="0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rgbClr val="D9D9E3"/>
              </a:solidFill>
              <a:round/>
            </a:ln>
            <a:effectLst/>
          </c:spPr>
        </c:majorGridlines>
        <c:numFmt formatCode="0&quot;%&quot;" sourceLinked="0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baseline="0">
                <a:solidFill>
                  <a:srgbClr val="1C1D22"/>
                </a:solidFill>
                <a:latin typeface="Montserrat"/>
                <a:ea typeface="Arial"/>
                <a:cs typeface="Arial"/>
              </a:defRPr>
            </a:pPr>
            <a:endParaRPr lang="en-US"/>
          </a:p>
        </c:txPr>
        <c:crossAx val="1688540351"/>
        <c:crosses val="autoZero"/>
        <c:crossBetween val="between"/>
        <c:majorUnit val="20"/>
      </c:valAx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346075" y="1424510"/>
      <a:ext cx="5749925" cy="4401748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1065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7959106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754362081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457982221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9469280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7118041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Титульный слайд по шаблону организаторов. Вставьте название команды и, если есть, официальный логотип ДПиООС вместо текстовой подписи.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C1BF22-5D8C-22AC-92A6-842250D704CE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Суть решения в одной фразе: DXF на входе, тот же DXF с отдельными слоями и объяснениями на выходе. Уникальность — нормы решает геометрия, каждое решение проверяемо.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3DA020-1C30-707B-32F4-3F5332C29B03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457605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53873884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Двое одногруппников. Заполните ФИО, контакты и место учёбы; в верхнюю часть карточек можно вставить фото (плейсхолдер «Рисунок»).</a:t>
            </a:r>
          </a:p>
        </p:txBody>
      </p:sp>
      <p:sp>
        <p:nvSpPr>
          <p:cNvPr id="1209633299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49142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8183928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Пункты 1 и 2 — черновик, поправьте под себя. Пункт 3 — реальные сложности разработки.</a:t>
            </a:r>
          </a:p>
        </p:txBody>
      </p:sp>
      <p:sp>
        <p:nvSpPr>
          <p:cNvPr id="1807110261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Техническая суть — что внутри; маркетинговая — зачем это ДПиООС и проектировщику.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335EB9-C24A-064B-2652-FD3266B3A5D6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Проблема — ручная сверка; решение — геометрия и нормы; ценность — время и прозрачность.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106120-8BEE-2527-CC37-98046FE42C65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Показать, что на входе обычные чертежи проектировщика, а на выходе тот же DXF и отчёты.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68B454-78B0-C3B2-69E9-B794F92E6FFF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Нормативное решение принимает движок; модель только меняет порядок предпочтения мест. Числа норм — только в справочниках knowledge/ вместе с цитатой источника.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C4A34F-FE80-046C-AE3B-A7A1667CC56B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Процесс: 1 — чертежи, 2 — распознавание, 3 — нормы, 4 — посадки и породы, 5 — выпуск и независимая проверка. Незамкнутую границу работ чиним и пишем в диагностику.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29D398-FDD6-6A63-E853-2DE0E07FACBA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Главное отличие от буферов вокруг оси: расстояние считается от поверхности сети; сокращение отступа — только с корнезащитой, это прямой ответ постановщика.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AC2CC2-D599-DA47-088B-358927C55A0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42584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9242314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 демо: открыть результат в просмотрщике, погасить слои AI_* — чертёж как был.</a:t>
            </a:r>
          </a:p>
        </p:txBody>
      </p:sp>
      <p:sp>
        <p:nvSpPr>
          <p:cNvPr id="83555519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Реальный абзац из отчёта planting_report.md. Отказы объясняются так же подробно, как посадки.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2E6E5-F332-25FD-1181-EA8D85700C0A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Слева — что сервис увидел в чертеже, справа — что предложил. Кружки — кроны деревьев, фиолетовые точки — кустарники, крестики — отклонённые места.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Слева — проект подрядчика, в центре и справа — наш план тех же газонов. Модель учится рисунку проектировщика: ряды вдоль проезжей части, группы, куртины и полосы кустарника.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Прогон всех 19 объектов каталога одной командой greenplan batch --workers 3, модель с композицией, по нормативу ТСН. У Берзарина нет границы работ и газона, поэтому посадок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3992E-3871-CEA7-06FA-09C1C32615C5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Говорить не «проектировщики ошибаются», а «ручная проверка отступов не справляется с плотностью сетей». Обязательно проговорить оговорки.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F2D04B-FB7A-5927-2C42-E4BC94B7982C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Слева — реальная страница задания в вебе, справа — Swagger движка.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523813-1BCA-864D-3A1F-F780BCC67175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Страница расчёта в веб-интерфейсе после docker compose up: ход по этапам, ключевые цифры, превью, итог и файлы. Те же посадки, что в пакетном прогоне на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Честно про ограничения и конкретный путь внедрения.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774FEA-5A0D-837F-C7F7-34E97E9446F8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Финальный слайд: ссылки на репозиторий и скринкаст.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5B76C9-2C37-8DBF-3E19-8868B336F4E7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694847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45246146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1335321990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442328199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970907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16620436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31311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53882930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278272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70888799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329783531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268009872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77086399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95394591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75295524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54459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41499404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871897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663330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0991020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23013896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77104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0883143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086763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04183985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97667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2418904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9197374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5523207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083939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303946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424816548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194120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87012976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17215518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72050680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488635203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19732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72451704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6445375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4284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30482455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3040226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17367035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84708065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95133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648389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135270005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28605741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1027063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0870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8637147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996434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739697988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865827846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3736261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98561301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589145579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017145295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34160478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20216918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3198341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385536420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194370227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753908188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70074565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15511723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18151315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571821014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1566103175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585344949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309759096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69924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154264562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524774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540081941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81684615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21442637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32885086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35796166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62466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67121750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31906544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9569110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88163649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8699737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4758597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05684855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64899746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66297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2306785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7067737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58835814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683232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896558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6544777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4657667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03438599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314402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3123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54814206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608687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678973709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2822220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1094307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468858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271952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5713800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6209270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43010281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47435170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65300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132769681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6247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95516941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28936506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085894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990037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9850867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1308199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804150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1447253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85619793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08652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5071007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342767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61297440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474814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42599089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8475148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03916429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9609569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29588159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23155351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73048506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06433553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6348766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90982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09654387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0799284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87547109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83599593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977781235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36175003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44783114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11493064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96899600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54040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93026116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184728260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069861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8604536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91382418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32270735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21645290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73765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6361987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289027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68499311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77277697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3255422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1498816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291774590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03267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0852938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71382446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00329777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4787701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04365571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58587531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9303424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5855201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346239243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1043257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0025118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331341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9236562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93832676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762560806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26510244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34299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40839606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009093356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189003607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4230376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178564755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3364799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8751773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0595942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99331011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61026690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5874379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77301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765674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401218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89372344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8080145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hyperlink" Target="mailto:nrbudanov123@gmail.com" TargetMode="External"/><Relationship Id="rId4" Type="http://schemas.openxmlformats.org/officeDocument/2006/relationships/hyperlink" Target="https://github.com/Ov3rl0rd1/GreenMosco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009452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7521387" cy="1706743"/>
          </a:xfrm>
        </p:spPr>
        <p:txBody>
          <a:bodyPr lIns="502920"/>
          <a:lstStyle/>
          <a:p>
            <a:pPr marL="0" indent="0">
              <a:buNone/>
              <a:defRPr/>
            </a:pPr>
            <a:r>
              <a:rPr dirty="0"/>
              <a:t>КОМАНДА (да, это настоящее название) </a:t>
            </a:r>
            <a:endParaRPr lang="ru-RU" sz="800" b="0" dirty="0"/>
          </a:p>
        </p:txBody>
      </p:sp>
      <p:sp>
        <p:nvSpPr>
          <p:cNvPr id="1076987698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lIns="502920" anchor="ctr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sz="1600" dirty="0" err="1"/>
              <a:t>Задача №3. Сервис для автоматического проектирования озеленения города</a:t>
            </a:r>
            <a:endParaRPr lang="ru-RU"/>
          </a:p>
          <a:p>
            <a:pPr marL="0" indent="0">
              <a:buNone/>
              <a:defRPr/>
            </a:pPr>
            <a:r>
              <a:rPr sz="1600"/>
              <a:t>с учётом расположения подземных коммуникаций и городской среды</a:t>
            </a:r>
            <a:endParaRPr lang="ru-RU"/>
          </a:p>
          <a:p>
            <a:pPr marL="0" indent="0">
              <a:buNone/>
              <a:defRPr/>
            </a:pPr>
            <a:r>
              <a:rPr sz="1600"/>
              <a:t>решение GreenMoscow</a:t>
            </a:r>
            <a:endParaRPr lang="ru-RU"/>
          </a:p>
        </p:txBody>
      </p:sp>
      <p:sp>
        <p:nvSpPr>
          <p:cNvPr id="165222823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2228235" name="TextBox 1652228234"/>
          <p:cNvSpPr txBox="1"/>
          <p:nvPr/>
        </p:nvSpPr>
        <p:spPr>
          <a:xfrm>
            <a:off x="305186" y="329801"/>
            <a:ext cx="5193299" cy="10825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ontserrat"/>
              </a:rPr>
              <a:t>Постановщик задачи</a:t>
            </a:r>
          </a:p>
          <a:p>
            <a:r>
              <a:rPr sz="1400" b="1">
                <a:solidFill>
                  <a:srgbClr val="FFFFFF"/>
                </a:solidFill>
                <a:latin typeface="Montserrat"/>
              </a:rPr>
              <a:t>Департамент природопользования и охраны окружающей среды города Москвы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239782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575388077" name="Рисунок 1" descr="kharkovskaya-after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1958" b="11958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652817046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666572970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rgbClr val="1C1D22"/>
                </a:solidFill>
              </a:rPr>
              <a:t>Нормативное решение принимает геометрия, а не нейросеть: 57 правил с цитатами, расстояние от поверхности трубы, независимая повторная проверка результата и неизменности исходного чертежа. Номер пункта НПА печатается только у цитат, сверенных по официальным текстам.</a:t>
            </a:r>
            <a:endParaRPr/>
          </a:p>
        </p:txBody>
      </p:sp>
      <p:sp>
        <p:nvSpPr>
          <p:cNvPr id="1837256442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en-US" dirty="0">
                <a:solidFill>
                  <a:schemeClr val="tx1"/>
                </a:solidFill>
              </a:rPr>
              <a:t>Буданов </a:t>
            </a:r>
            <a:r>
              <a:rPr lang="en-US" dirty="0" err="1">
                <a:solidFill>
                  <a:schemeClr val="tx1"/>
                </a:solidFill>
              </a:rPr>
              <a:t>Никита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Романович</a:t>
            </a:r>
            <a:endParaRPr lang="ru-RU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b="0" dirty="0">
                <a:solidFill>
                  <a:schemeClr val="tx1"/>
                </a:solidFill>
              </a:rPr>
              <a:t>2 человека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r>
              <a:rPr lang="ru-RU" b="0" dirty="0">
                <a:solidFill>
                  <a:schemeClr val="tx1"/>
                </a:solidFill>
              </a:rPr>
              <a:t>одногруппники; один — движок, алгоритмы, ML и инфраструктура, второй — веб-интерфейс и нормативная база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Москва</a:t>
            </a:r>
            <a:endParaRPr dirty="0"/>
          </a:p>
        </p:txBody>
      </p:sp>
      <p:sp>
        <p:nvSpPr>
          <p:cNvPr id="229211028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313445916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GreenMoscow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27659913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34583492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4057571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7427537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998488573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rgbClr val="1C1D22"/>
                </a:solidFill>
              </a:rPr>
              <a:t>Сервис читает чертежи объекта в DXF, строит нормативные зоны от подземных сетей и сооружений, расставляет деревья и кустарники, подбирает породы по ассортименту ДПиООС и дописывает результат отдельными слоями в тот же чертёж — с объяснением каждой посадки и каждого отказа ссылкой на пункт НПА.</a:t>
            </a:r>
            <a:endParaRPr/>
          </a:p>
        </p:txBody>
      </p:sp>
      <p:sp>
        <p:nvSpPr>
          <p:cNvPr id="596916517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486261" name="Скругленный прямоугольник 55"/>
          <p:cNvSpPr/>
          <p:nvPr/>
        </p:nvSpPr>
        <p:spPr bwMode="auto">
          <a:xfrm>
            <a:off x="6185792" y="1756892"/>
            <a:ext cx="2192713" cy="3344216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37187630" name="Текст 8"/>
          <p:cNvSpPr txBox="1"/>
          <p:nvPr/>
        </p:nvSpPr>
        <p:spPr bwMode="auto">
          <a:xfrm>
            <a:off x="6358076" y="2994779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Веб-интерфейс, поиск и сверка нормативных актов</a:t>
            </a:r>
            <a:endParaRPr dirty="0"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@</a:t>
            </a:r>
            <a:r>
              <a:rPr lang="ru-RU" sz="1200" dirty="0" err="1">
                <a:solidFill>
                  <a:schemeClr val="tx1"/>
                </a:solidFill>
              </a:rPr>
              <a:t>CatInCat</a:t>
            </a:r>
            <a:endParaRPr dirty="0"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Р</a:t>
            </a:r>
            <a:r>
              <a:rPr lang="ru-RU" sz="1200" dirty="0">
                <a:solidFill>
                  <a:schemeClr val="tx1"/>
                </a:solidFill>
              </a:rPr>
              <a:t>Г</a:t>
            </a:r>
            <a:r>
              <a:rPr lang="en-US" sz="1200" dirty="0">
                <a:solidFill>
                  <a:schemeClr val="tx1"/>
                </a:solidFill>
              </a:rPr>
              <a:t>АУ МСХА</a:t>
            </a:r>
            <a:endParaRPr dirty="0"/>
          </a:p>
        </p:txBody>
      </p:sp>
      <p:sp>
        <p:nvSpPr>
          <p:cNvPr id="1590725059" name="Текст 8"/>
          <p:cNvSpPr txBox="1"/>
          <p:nvPr/>
        </p:nvSpPr>
        <p:spPr bwMode="auto">
          <a:xfrm>
            <a:off x="6358075" y="2366869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600" b="1" dirty="0" err="1">
                <a:solidFill>
                  <a:schemeClr val="accent5"/>
                </a:solidFill>
              </a:rPr>
              <a:t>Артемий</a:t>
            </a:r>
            <a:r>
              <a:rPr lang="en-US" sz="1600" b="1" dirty="0">
                <a:solidFill>
                  <a:schemeClr val="accent5"/>
                </a:solidFill>
              </a:rPr>
              <a:t> </a:t>
            </a:r>
            <a:r>
              <a:rPr lang="en-US" sz="1600" b="1" dirty="0" err="1">
                <a:solidFill>
                  <a:schemeClr val="accent5"/>
                </a:solidFill>
              </a:rPr>
              <a:t>Алехин</a:t>
            </a:r>
            <a:endParaRPr dirty="0"/>
          </a:p>
        </p:txBody>
      </p:sp>
      <p:sp>
        <p:nvSpPr>
          <p:cNvPr id="896446256" name="Скругленный прямоугольник 16"/>
          <p:cNvSpPr/>
          <p:nvPr/>
        </p:nvSpPr>
        <p:spPr bwMode="auto">
          <a:xfrm>
            <a:off x="3867004" y="1756892"/>
            <a:ext cx="2192713" cy="3344216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7768766" name="Скругленный прямоугольник 12"/>
          <p:cNvSpPr/>
          <p:nvPr/>
        </p:nvSpPr>
        <p:spPr bwMode="auto">
          <a:xfrm>
            <a:off x="346075" y="324562"/>
            <a:ext cx="203631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6024465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260700346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t>КОМАНДА</a:t>
            </a:r>
            <a:endParaRPr lang="ru-RU">
              <a:latin typeface="Montserrat"/>
            </a:endParaRPr>
          </a:p>
        </p:txBody>
      </p:sp>
      <p:sp>
        <p:nvSpPr>
          <p:cNvPr id="270328143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4039288" y="2994779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Движок, нормы, размещение, ML, </a:t>
            </a:r>
            <a:r>
              <a:rPr lang="ru-RU" sz="1200" dirty="0" err="1">
                <a:solidFill>
                  <a:schemeClr val="tx1"/>
                </a:solidFill>
              </a:rPr>
              <a:t>Docker</a:t>
            </a:r>
            <a:r>
              <a:rPr lang="ru-RU" sz="1200" dirty="0">
                <a:solidFill>
                  <a:schemeClr val="tx1"/>
                </a:solidFill>
              </a:rPr>
              <a:t>, документация</a:t>
            </a:r>
            <a:endParaRPr dirty="0"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@</a:t>
            </a:r>
            <a:r>
              <a:rPr lang="ru-RU" sz="1200" dirty="0" err="1">
                <a:solidFill>
                  <a:schemeClr val="tx1"/>
                </a:solidFill>
              </a:rPr>
              <a:t>not_griff</a:t>
            </a:r>
            <a:r>
              <a:rPr lang="en-US" sz="1200" dirty="0" err="1">
                <a:solidFill>
                  <a:schemeClr val="tx1"/>
                </a:solidFill>
              </a:rPr>
              <a:t>i</a:t>
            </a:r>
            <a:r>
              <a:rPr lang="ru-RU" sz="1200" dirty="0">
                <a:solidFill>
                  <a:schemeClr val="tx1"/>
                </a:solidFill>
              </a:rPr>
              <a:t>t</a:t>
            </a:r>
            <a:r>
              <a:rPr lang="en-US" sz="1200" dirty="0">
                <a:solidFill>
                  <a:schemeClr val="tx1"/>
                </a:solidFill>
              </a:rPr>
              <a:t>h</a:t>
            </a:r>
            <a:endParaRPr dirty="0"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РГАУ МСХА</a:t>
            </a:r>
            <a:endParaRPr dirty="0"/>
          </a:p>
        </p:txBody>
      </p:sp>
      <p:sp>
        <p:nvSpPr>
          <p:cNvPr id="2113454524" name="Текст 8"/>
          <p:cNvSpPr txBox="1"/>
          <p:nvPr/>
        </p:nvSpPr>
        <p:spPr bwMode="auto">
          <a:xfrm>
            <a:off x="4039287" y="2366869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600" b="1" dirty="0" err="1">
                <a:solidFill>
                  <a:schemeClr val="accent5"/>
                </a:solidFill>
              </a:rPr>
              <a:t>Никита</a:t>
            </a:r>
            <a:r>
              <a:rPr lang="en-US" sz="1600" b="1" dirty="0">
                <a:solidFill>
                  <a:schemeClr val="accent5"/>
                </a:solidFill>
              </a:rPr>
              <a:t> Буданов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574520" name="Скругленный прямоугольник 1"/>
          <p:cNvSpPr/>
          <p:nvPr/>
        </p:nvSpPr>
        <p:spPr bwMode="auto">
          <a:xfrm>
            <a:off x="346075" y="324562"/>
            <a:ext cx="378891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15354397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186943718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t>О КОМАНДЕ И ЗАДАЧЕ</a:t>
            </a:r>
            <a:endParaRPr lang="ru-RU">
              <a:latin typeface="Montserrat"/>
            </a:endParaRPr>
          </a:p>
        </p:txBody>
      </p:sp>
      <p:sp>
        <p:nvSpPr>
          <p:cNvPr id="1069993411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1024128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Команда из двух одногруппников, ранее в хакатонах не участвовала.</a:t>
            </a:r>
            <a:endParaRPr dirty="0"/>
          </a:p>
        </p:txBody>
      </p:sp>
      <p:sp>
        <p:nvSpPr>
          <p:cNvPr id="38862368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395039939" name="Текст 8"/>
          <p:cNvSpPr txBox="1"/>
          <p:nvPr/>
        </p:nvSpPr>
        <p:spPr bwMode="auto">
          <a:xfrm>
            <a:off x="533607" y="5139255"/>
            <a:ext cx="1024128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Данные: DWG с внешними ссылками, тип сети закодирован именем слоя; пути длиннее 260 символов, смешанные кодировки, незамкнутые границы, газон на десятках разных слоёв; каждую находку пакетного прогона закрывали тестом. Нормы: отступ меряется от поверхности трубы, сокращение — только с </a:t>
            </a:r>
            <a:r>
              <a:rPr lang="ru-RU" dirty="0" err="1">
                <a:solidFill>
                  <a:schemeClr val="tx1"/>
                </a:solidFill>
              </a:rPr>
              <a:t>корнезащитой</a:t>
            </a:r>
            <a:r>
              <a:rPr lang="ru-RU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08689292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394281078" name="Текст 8"/>
          <p:cNvSpPr txBox="1"/>
          <p:nvPr/>
        </p:nvSpPr>
        <p:spPr bwMode="auto">
          <a:xfrm>
            <a:off x="533607" y="3429000"/>
            <a:ext cx="1024128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Задача на стыке трёх областей — CAD-чертежи, строительные нормы и машинное обучение — с прямым эффектом для города: дерево, посаженное без учёта сетей, — это будущая пересадка или авария при ремонте.</a:t>
            </a:r>
            <a:endParaRPr dirty="0"/>
          </a:p>
        </p:txBody>
      </p:sp>
      <p:sp>
        <p:nvSpPr>
          <p:cNvPr id="1278795139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304603037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77030834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1810560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5922331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583468015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901532483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909041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87067728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40716104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3432009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9104433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  <a:defRPr/>
            </a:pPr>
            <a:r>
              <a:rPr lang="ru-RU" sz="1400">
                <a:solidFill>
                  <a:schemeClr val="tx1"/>
                </a:solidFill>
              </a:rPr>
              <a:t>Вход — DXF объекта: генплан, геоподоснова, внешние ссылки; выход — тот же чертёж со слоями AI_* и отчёты</a:t>
            </a:r>
            <a:endParaRPr/>
          </a:p>
          <a:p>
            <a:pPr>
              <a:spcAft>
                <a:spcPts val="400"/>
              </a:spcAft>
              <a:defRPr/>
            </a:pPr>
            <a:r>
              <a:rPr lang="ru-RU" sz="1400">
                <a:solidFill>
                  <a:schemeClr val="tx1"/>
                </a:solidFill>
              </a:rPr>
              <a:t>Нормативный движок: 57 правил СП 42, 743-ПП, ТСН 30-307, ПУЭ и перечень инвазивных растений 369-ПП; числа — только в справочнике с цитатой</a:t>
            </a:r>
            <a:endParaRPr/>
          </a:p>
          <a:p>
            <a:pPr>
              <a:spcAft>
                <a:spcPts val="400"/>
              </a:spcAft>
              <a:defRPr/>
            </a:pPr>
            <a:r>
              <a:rPr lang="ru-RU" sz="1400">
                <a:solidFill>
                  <a:schemeClr val="tx1"/>
                </a:solidFill>
              </a:rPr>
              <a:t>Размещение: модель U-Net подсказывает места и количество, композиция — ряды, группы, изгороди, массивы; каждая точка проходит нормы, корнезащита</a:t>
            </a:r>
            <a:endParaRPr/>
          </a:p>
          <a:p>
            <a:pPr>
              <a:spcAft>
                <a:spcPts val="400"/>
              </a:spcAft>
              <a:defRPr/>
            </a:pPr>
            <a:r>
              <a:rPr lang="ru-RU" sz="1400">
                <a:solidFill>
                  <a:schemeClr val="tx1"/>
                </a:solidFill>
              </a:rPr>
              <a:t>Породы — по официальному ассортименту ДПиООС и категории территории</a:t>
            </a:r>
            <a:endParaRPr/>
          </a:p>
          <a:p>
            <a:pPr>
              <a:spcAft>
                <a:spcPts val="400"/>
              </a:spcAft>
              <a:defRPr/>
            </a:pPr>
            <a:r>
              <a:rPr lang="ru-RU" sz="1400">
                <a:solidFill>
                  <a:schemeClr val="tx1"/>
                </a:solidFill>
              </a:rPr>
              <a:t>Независимая проверка; Docker, API со Swagger, веб с параметрами расчёта; модель — необязательная подсказка</a:t>
            </a:r>
            <a:endParaRPr/>
          </a:p>
        </p:txBody>
      </p:sp>
      <p:sp>
        <p:nvSpPr>
          <p:cNvPr id="1143412388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  <a:defRPr/>
            </a:pPr>
            <a:r>
              <a:rPr lang="ru-RU" sz="1400">
                <a:solidFill>
                  <a:schemeClr val="tx1"/>
                </a:solidFill>
              </a:rPr>
              <a:t>Черновик озеленения улицы за 1–10,4 мин на ноутбуке вместо дней ручной сверки с сетями</a:t>
            </a:r>
            <a:endParaRPr/>
          </a:p>
          <a:p>
            <a:pPr>
              <a:spcAft>
                <a:spcPts val="400"/>
              </a:spcAft>
              <a:defRPr/>
            </a:pPr>
            <a:r>
              <a:rPr lang="ru-RU" sz="1400">
                <a:solidFill>
                  <a:schemeClr val="tx1"/>
                </a:solidFill>
              </a:rPr>
              <a:t>Каждое решение объяснено ссылкой на пункт — проще согласование в ДПиООС и с эксплуатирующими организациями</a:t>
            </a:r>
            <a:endParaRPr/>
          </a:p>
          <a:p>
            <a:pPr>
              <a:spcAft>
                <a:spcPts val="400"/>
              </a:spcAft>
              <a:defRPr/>
            </a:pPr>
            <a:r>
              <a:rPr lang="ru-RU" sz="1400">
                <a:solidFill>
                  <a:schemeClr val="tx1"/>
                </a:solidFill>
              </a:rPr>
              <a:t>Тот же контроль проверяет чужие проекты: в эталонах датасета до 82 % посадок ближе норм</a:t>
            </a:r>
            <a:endParaRPr/>
          </a:p>
          <a:p>
            <a:pPr>
              <a:spcAft>
                <a:spcPts val="400"/>
              </a:spcAft>
              <a:defRPr/>
            </a:pPr>
            <a:r>
              <a:rPr lang="ru-RU" sz="1400">
                <a:solidFill>
                  <a:schemeClr val="tx1"/>
                </a:solidFill>
              </a:rPr>
              <a:t>Внедрение: сервис в контуре ДПиООС, пакетная проверка программы благоустройства</a:t>
            </a:r>
            <a:endParaRPr/>
          </a:p>
        </p:txBody>
      </p:sp>
      <p:sp>
        <p:nvSpPr>
          <p:cNvPr id="48148950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3062322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79414699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161611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44465397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42606659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00329864" name="Скругленный прямоугольник 1"/>
          <p:cNvSpPr/>
          <p:nvPr/>
        </p:nvSpPr>
        <p:spPr bwMode="auto">
          <a:xfrm>
            <a:off x="346075" y="324562"/>
            <a:ext cx="392734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3345938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03117834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80103679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54654857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sz="1500" b="1">
                <a:solidFill>
                  <a:srgbClr val="FF0053"/>
                </a:solidFill>
              </a:rPr>
              <a:t>Проблема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  <a:defRPr/>
            </a:pPr>
            <a:r>
              <a:rPr sz="1500" b="0">
                <a:solidFill>
                  <a:srgbClr val="1C1D22"/>
                </a:solidFill>
              </a:rPr>
              <a:t>Посадки сверяют с сетями вручную по табл. 9.1 СП 42 и 743-ПП. На километр улицы — тысячи пар «дерево — сеть». Ошибки всплывают на согласовании или при ремонте сетей.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30981145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sz="1500" b="1">
                <a:solidFill>
                  <a:srgbClr val="FF0053"/>
                </a:solidFill>
              </a:rPr>
              <a:t>Решение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  <a:defRPr/>
            </a:pPr>
            <a:r>
              <a:rPr sz="1500" b="0">
                <a:solidFill>
                  <a:srgbClr val="1C1D22"/>
                </a:solidFill>
              </a:rPr>
              <a:t>Сервис меряет расстояние от поверхности каждой сети и сооружения, ставит посадки только там, где нормы выполнены, и объясняет каждое место и каждый отказ ссылкой на пункт НПА.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97037193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sz="1500" b="1">
                <a:solidFill>
                  <a:srgbClr val="FF0053"/>
                </a:solidFill>
              </a:rPr>
              <a:t>Ценность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  <a:defRPr/>
            </a:pPr>
            <a:r>
              <a:rPr sz="1500" b="0">
                <a:solidFill>
                  <a:srgbClr val="1C1D22"/>
                </a:solidFill>
              </a:rPr>
              <a:t>Черновик озеленения улицы за 1–10,4 мин на ноутбуке; прозрачная проверка проекта для ДПиООС и эксплуатирующих организаций; меньше переделок и конфликтов с сетями.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973786071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4321713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432949913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128608701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016081069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1374043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t>ПРОБЛЕМА И РЕШЕНИЕ</a:t>
            </a:r>
            <a:endParaRPr lang="ru-RU"/>
          </a:p>
        </p:txBody>
      </p:sp>
      <p:cxnSp>
        <p:nvCxnSpPr>
          <p:cNvPr id="1396648680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04646" name="Скругленный прямоугольник 1"/>
          <p:cNvSpPr/>
          <p:nvPr/>
        </p:nvSpPr>
        <p:spPr bwMode="auto">
          <a:xfrm>
            <a:off x="346075" y="324562"/>
            <a:ext cx="277418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94247216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20022019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01213215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16947233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16868086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54825138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20976000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0" indent="0" algn="l">
              <a:spcAft>
                <a:spcPts val="600"/>
              </a:spcAft>
              <a:buNone/>
              <a:defRPr/>
            </a:pPr>
            <a:r>
              <a:rPr sz="1400" b="1">
                <a:solidFill>
                  <a:srgbClr val="520978"/>
                </a:solidFill>
              </a:rPr>
              <a:t>Одна команда</a:t>
            </a:r>
            <a:endParaRPr lang="ru-RU" sz="3600" b="1">
              <a:solidFill>
                <a:schemeClr val="tx1"/>
              </a:solidFill>
            </a:endParaRPr>
          </a:p>
          <a:p>
            <a:pPr marL="0" indent="0" algn="l">
              <a:spcAft>
                <a:spcPts val="600"/>
              </a:spcAft>
              <a:buNone/>
              <a:defRPr/>
            </a:pPr>
            <a:r>
              <a:rPr sz="1400" b="0">
                <a:solidFill>
                  <a:srgbClr val="1C1D22"/>
                </a:solidFill>
              </a:rPr>
              <a:t>greenplan run --input Генплан.dxf Геоподоснова.dxf --output out</a:t>
            </a:r>
            <a:endParaRPr lang="ru-RU" sz="3600" b="1">
              <a:solidFill>
                <a:schemeClr val="tx1"/>
              </a:solidFill>
            </a:endParaRPr>
          </a:p>
          <a:p>
            <a:pPr marL="0" indent="0" algn="l">
              <a:spcAft>
                <a:spcPts val="600"/>
              </a:spcAft>
              <a:buNone/>
              <a:defRPr/>
            </a:pPr>
            <a:r>
              <a:rPr sz="1400" b="1">
                <a:solidFill>
                  <a:srgbClr val="520978"/>
                </a:solidFill>
              </a:rPr>
              <a:t>или веб-интерфейс</a:t>
            </a:r>
            <a:endParaRPr lang="ru-RU" sz="3600" b="1">
              <a:solidFill>
                <a:schemeClr val="tx1"/>
              </a:solidFill>
            </a:endParaRPr>
          </a:p>
          <a:p>
            <a:pPr marL="0" indent="0" algn="l">
              <a:spcAft>
                <a:spcPts val="600"/>
              </a:spcAft>
              <a:buNone/>
              <a:defRPr/>
            </a:pPr>
            <a:r>
              <a:rPr sz="1400" b="0">
                <a:solidFill>
                  <a:srgbClr val="1C1D22"/>
                </a:solidFill>
              </a:rPr>
              <a:t>загрузить чертежи → категория территории и параметры расчёта → скачать результат</a:t>
            </a:r>
            <a:endParaRPr lang="ru-RU" sz="3600" b="1">
              <a:solidFill>
                <a:schemeClr val="tx1"/>
              </a:solidFill>
            </a:endParaRPr>
          </a:p>
          <a:p>
            <a:pPr marL="0" indent="0" algn="l">
              <a:spcAft>
                <a:spcPts val="600"/>
              </a:spcAft>
              <a:buNone/>
              <a:defRPr/>
            </a:pPr>
            <a:r>
              <a:rPr sz="1400" b="1">
                <a:solidFill>
                  <a:srgbClr val="520978"/>
                </a:solidFill>
              </a:rPr>
              <a:t>работает офлайн</a:t>
            </a:r>
            <a:endParaRPr lang="ru-RU" sz="3600" b="1">
              <a:solidFill>
                <a:schemeClr val="tx1"/>
              </a:solidFill>
            </a:endParaRPr>
          </a:p>
          <a:p>
            <a:pPr marL="0" indent="0" algn="l">
              <a:spcAft>
                <a:spcPts val="600"/>
              </a:spcAft>
              <a:buNone/>
              <a:defRPr/>
            </a:pPr>
            <a:r>
              <a:rPr sz="1400" b="0">
                <a:solidFill>
                  <a:srgbClr val="1C1D22"/>
                </a:solidFill>
              </a:rPr>
              <a:t>на ноутбуке проектировщика и в Docker под Linux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1425576722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 sz="1300" b="1">
                <a:solidFill>
                  <a:srgbClr val="520978"/>
                </a:solidFill>
              </a:rPr>
              <a:t>Вход: </a:t>
            </a:r>
            <a:r>
              <a:rPr sz="1300" b="0">
                <a:solidFill>
                  <a:srgbClr val="1C1D22"/>
                </a:solidFill>
              </a:rPr>
              <a:t>один или несколько DXF — генплан, геоподоснова, сборка с внешними ссылками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919891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 sz="1300" b="1">
                <a:solidFill>
                  <a:srgbClr val="520978"/>
                </a:solidFill>
              </a:rPr>
              <a:t>Тот же чертёж + слои AI_*: </a:t>
            </a:r>
            <a:r>
              <a:rPr sz="1300" b="0">
                <a:solidFill>
                  <a:srgbClr val="1C1D22"/>
                </a:solidFill>
              </a:rPr>
              <a:t>деревья, кустарники, зоны, корнезащита, отказы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44824341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 sz="1300" b="1">
                <a:solidFill>
                  <a:srgbClr val="520978"/>
                </a:solidFill>
              </a:rPr>
              <a:t>Отчёт: </a:t>
            </a:r>
            <a:r>
              <a:rPr sz="1300" b="0">
                <a:solidFill>
                  <a:srgbClr val="1C1D22"/>
                </a:solidFill>
              </a:rPr>
              <a:t>каждая посадка и отказ — нормы, расстояния, пункт НПА, порода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7950505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 sz="1300" b="1">
                <a:solidFill>
                  <a:srgbClr val="520978"/>
                </a:solidFill>
              </a:rPr>
              <a:t>Ведомость объёмов, </a:t>
            </a:r>
            <a:r>
              <a:rPr sz="1300" b="0">
                <a:solidFill>
                  <a:srgbClr val="1C1D22"/>
                </a:solidFill>
              </a:rPr>
              <a:t>показатели плана, ориентировочная стоимость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08835581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 sz="1300" b="1">
                <a:solidFill>
                  <a:srgbClr val="520978"/>
                </a:solidFill>
              </a:rPr>
              <a:t>Протокол проверки: </a:t>
            </a:r>
            <a:r>
              <a:rPr sz="1300" b="0">
                <a:solidFill>
                  <a:srgbClr val="1C1D22"/>
                </a:solidFill>
              </a:rPr>
              <a:t>нарушения, шаг, неизменность исходного чертежа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13976415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1588479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t>ВХОД И ВЫХОД</a:t>
            </a:r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39219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2332030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05935545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 marL="0" indent="0">
              <a:buNone/>
              <a:defRPr/>
            </a:pPr>
            <a:r>
              <a:t>АРХИТЕКТУРА</a:t>
            </a:r>
            <a:endParaRPr lang="ru-RU" sz="3600">
              <a:solidFill>
                <a:schemeClr val="bg1"/>
              </a:solidFill>
            </a:endParaRPr>
          </a:p>
        </p:txBody>
      </p:sp>
      <p:sp>
        <p:nvSpPr>
          <p:cNvPr id="2052392199" name="Rounded Rectangle 2052392198"/>
          <p:cNvSpPr/>
          <p:nvPr/>
        </p:nvSpPr>
        <p:spPr>
          <a:xfrm>
            <a:off x="731520" y="1737360"/>
            <a:ext cx="1737360" cy="822960"/>
          </a:xfrm>
          <a:prstGeom prst="roundRect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Проектировщик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ontserrat"/>
              </a:rPr>
              <a:t>браузер или CLI</a:t>
            </a:r>
          </a:p>
        </p:txBody>
      </p:sp>
      <p:sp>
        <p:nvSpPr>
          <p:cNvPr id="2052392200" name="Rounded Rectangle 2052392199"/>
          <p:cNvSpPr/>
          <p:nvPr/>
        </p:nvSpPr>
        <p:spPr>
          <a:xfrm>
            <a:off x="2926080" y="1737360"/>
            <a:ext cx="2011680" cy="822960"/>
          </a:xfrm>
          <a:prstGeom prst="roundRect">
            <a:avLst/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web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ontserrat"/>
              </a:rPr>
              <a:t>ASP.NET Core .NET 10</a:t>
            </a:r>
          </a:p>
        </p:txBody>
      </p:sp>
      <p:sp>
        <p:nvSpPr>
          <p:cNvPr id="2052392201" name="Rounded Rectangle 2052392200"/>
          <p:cNvSpPr/>
          <p:nvPr/>
        </p:nvSpPr>
        <p:spPr>
          <a:xfrm>
            <a:off x="5394960" y="1737360"/>
            <a:ext cx="2286000" cy="82296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engine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ontserrat"/>
              </a:rPr>
              <a:t>Python 3.11 · FastAPI · Swagger</a:t>
            </a:r>
          </a:p>
        </p:txBody>
      </p:sp>
      <p:sp>
        <p:nvSpPr>
          <p:cNvPr id="2052392202" name="Rounded Rectangle 2052392201"/>
          <p:cNvSpPr/>
          <p:nvPr/>
        </p:nvSpPr>
        <p:spPr>
          <a:xfrm>
            <a:off x="8229600" y="1737360"/>
            <a:ext cx="3291840" cy="822960"/>
          </a:xfrm>
          <a:prstGeom prst="roundRect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Результат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ontserrat"/>
              </a:rPr>
              <a:t>тот же DXF + отчёты + проверка</a:t>
            </a:r>
          </a:p>
        </p:txBody>
      </p:sp>
      <p:cxnSp>
        <p:nvCxnSpPr>
          <p:cNvPr id="2052392203" name="Connector 2052392202"/>
          <p:cNvCxnSpPr/>
          <p:nvPr/>
        </p:nvCxnSpPr>
        <p:spPr>
          <a:xfrm>
            <a:off x="2468880" y="2148840"/>
            <a:ext cx="457200" cy="0"/>
          </a:xfrm>
          <a:prstGeom prst="line">
            <a:avLst/>
          </a:prstGeom>
          <a:ln w="2222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2392204" name="Connector 2052392203"/>
          <p:cNvCxnSpPr/>
          <p:nvPr/>
        </p:nvCxnSpPr>
        <p:spPr>
          <a:xfrm>
            <a:off x="4937760" y="2148840"/>
            <a:ext cx="457200" cy="0"/>
          </a:xfrm>
          <a:prstGeom prst="line">
            <a:avLst/>
          </a:prstGeom>
          <a:ln w="2222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2392205" name="Connector 2052392204"/>
          <p:cNvCxnSpPr/>
          <p:nvPr/>
        </p:nvCxnSpPr>
        <p:spPr>
          <a:xfrm>
            <a:off x="7680960" y="2148840"/>
            <a:ext cx="548640" cy="0"/>
          </a:xfrm>
          <a:prstGeom prst="line">
            <a:avLst/>
          </a:prstGeom>
          <a:ln w="2222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2392206" name="Rounded Rectangle 2052392205"/>
          <p:cNvSpPr/>
          <p:nvPr/>
        </p:nvSpPr>
        <p:spPr>
          <a:xfrm>
            <a:off x="731520" y="3154680"/>
            <a:ext cx="1280160" cy="868680"/>
          </a:xfrm>
          <a:prstGeom prst="roundRect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00" b="1">
                <a:solidFill>
                  <a:srgbClr val="310F53"/>
                </a:solidFill>
                <a:latin typeface="Montserrat"/>
              </a:rPr>
              <a:t>Ввод DXF</a:t>
            </a:r>
          </a:p>
          <a:p>
            <a:pPr algn="ctr"/>
            <a:r>
              <a:rPr sz="700" b="0">
                <a:solidFill>
                  <a:srgbClr val="310F53"/>
                </a:solidFill>
                <a:latin typeface="Montserrat"/>
              </a:rPr>
              <a:t>и ссылок</a:t>
            </a:r>
          </a:p>
        </p:txBody>
      </p:sp>
      <p:sp>
        <p:nvSpPr>
          <p:cNvPr id="2052392207" name="Rounded Rectangle 2052392206"/>
          <p:cNvSpPr/>
          <p:nvPr/>
        </p:nvSpPr>
        <p:spPr>
          <a:xfrm>
            <a:off x="2103120" y="3154680"/>
            <a:ext cx="1280160" cy="868680"/>
          </a:xfrm>
          <a:prstGeom prst="roundRect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00" b="1">
                <a:solidFill>
                  <a:srgbClr val="310F53"/>
                </a:solidFill>
                <a:latin typeface="Montserrat"/>
              </a:rPr>
              <a:t>Распознавание</a:t>
            </a:r>
          </a:p>
          <a:p>
            <a:pPr algn="ctr"/>
            <a:r>
              <a:rPr sz="700" b="0">
                <a:solidFill>
                  <a:srgbClr val="310F53"/>
                </a:solidFill>
                <a:latin typeface="Montserrat"/>
              </a:rPr>
              <a:t>участка</a:t>
            </a:r>
          </a:p>
        </p:txBody>
      </p:sp>
      <p:cxnSp>
        <p:nvCxnSpPr>
          <p:cNvPr id="2052392208" name="Connector 2052392207"/>
          <p:cNvCxnSpPr/>
          <p:nvPr/>
        </p:nvCxnSpPr>
        <p:spPr>
          <a:xfrm>
            <a:off x="2011679" y="3584448"/>
            <a:ext cx="91441" cy="0"/>
          </a:xfrm>
          <a:prstGeom prst="line">
            <a:avLst/>
          </a:prstGeom>
          <a:ln w="2222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2392209" name="Rounded Rectangle 2052392208"/>
          <p:cNvSpPr/>
          <p:nvPr/>
        </p:nvSpPr>
        <p:spPr>
          <a:xfrm>
            <a:off x="3474720" y="3154680"/>
            <a:ext cx="1280160" cy="868680"/>
          </a:xfrm>
          <a:prstGeom prst="roundRect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00" b="1">
                <a:solidFill>
                  <a:srgbClr val="310F53"/>
                </a:solidFill>
                <a:latin typeface="Montserrat"/>
              </a:rPr>
              <a:t>Нормы</a:t>
            </a:r>
          </a:p>
          <a:p>
            <a:pPr algn="ctr"/>
            <a:r>
              <a:rPr sz="700" b="0">
                <a:solidFill>
                  <a:srgbClr val="310F53"/>
                </a:solidFill>
                <a:latin typeface="Montserrat"/>
              </a:rPr>
              <a:t>и зоны</a:t>
            </a:r>
          </a:p>
        </p:txBody>
      </p:sp>
      <p:cxnSp>
        <p:nvCxnSpPr>
          <p:cNvPr id="2052392210" name="Connector 2052392209"/>
          <p:cNvCxnSpPr/>
          <p:nvPr/>
        </p:nvCxnSpPr>
        <p:spPr>
          <a:xfrm>
            <a:off x="3383279" y="3584448"/>
            <a:ext cx="91441" cy="0"/>
          </a:xfrm>
          <a:prstGeom prst="line">
            <a:avLst/>
          </a:prstGeom>
          <a:ln w="2222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2392211" name="Rounded Rectangle 2052392210"/>
          <p:cNvSpPr/>
          <p:nvPr/>
        </p:nvSpPr>
        <p:spPr>
          <a:xfrm>
            <a:off x="4846320" y="3154680"/>
            <a:ext cx="1280160" cy="868680"/>
          </a:xfrm>
          <a:prstGeom prst="roundRect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00" b="1">
                <a:solidFill>
                  <a:srgbClr val="310F53"/>
                </a:solidFill>
                <a:latin typeface="Montserrat"/>
              </a:rPr>
              <a:t>Размещение</a:t>
            </a:r>
          </a:p>
          <a:p>
            <a:pPr algn="ctr"/>
            <a:r>
              <a:rPr sz="700" b="0">
                <a:solidFill>
                  <a:srgbClr val="310F53"/>
                </a:solidFill>
                <a:latin typeface="Montserrat"/>
              </a:rPr>
              <a:t>с шагом</a:t>
            </a:r>
          </a:p>
        </p:txBody>
      </p:sp>
      <p:cxnSp>
        <p:nvCxnSpPr>
          <p:cNvPr id="2052392212" name="Connector 2052392211"/>
          <p:cNvCxnSpPr/>
          <p:nvPr/>
        </p:nvCxnSpPr>
        <p:spPr>
          <a:xfrm>
            <a:off x="4754880" y="3584448"/>
            <a:ext cx="91440" cy="0"/>
          </a:xfrm>
          <a:prstGeom prst="line">
            <a:avLst/>
          </a:prstGeom>
          <a:ln w="2222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2392213" name="Rounded Rectangle 2052392212"/>
          <p:cNvSpPr/>
          <p:nvPr/>
        </p:nvSpPr>
        <p:spPr>
          <a:xfrm>
            <a:off x="6217920" y="3154680"/>
            <a:ext cx="1280160" cy="868680"/>
          </a:xfrm>
          <a:prstGeom prst="roundRect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00" b="1">
                <a:solidFill>
                  <a:srgbClr val="310F53"/>
                </a:solidFill>
                <a:latin typeface="Montserrat"/>
              </a:rPr>
              <a:t>Подбор</a:t>
            </a:r>
          </a:p>
          <a:p>
            <a:pPr algn="ctr"/>
            <a:r>
              <a:rPr sz="700" b="0">
                <a:solidFill>
                  <a:srgbClr val="310F53"/>
                </a:solidFill>
                <a:latin typeface="Montserrat"/>
              </a:rPr>
              <a:t>пород</a:t>
            </a:r>
          </a:p>
        </p:txBody>
      </p:sp>
      <p:cxnSp>
        <p:nvCxnSpPr>
          <p:cNvPr id="2052392214" name="Connector 2052392213"/>
          <p:cNvCxnSpPr/>
          <p:nvPr/>
        </p:nvCxnSpPr>
        <p:spPr>
          <a:xfrm>
            <a:off x="6126480" y="3584448"/>
            <a:ext cx="91440" cy="0"/>
          </a:xfrm>
          <a:prstGeom prst="line">
            <a:avLst/>
          </a:prstGeom>
          <a:ln w="2222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2392215" name="Rounded Rectangle 2052392214"/>
          <p:cNvSpPr/>
          <p:nvPr/>
        </p:nvSpPr>
        <p:spPr>
          <a:xfrm>
            <a:off x="7589520" y="3154680"/>
            <a:ext cx="1280160" cy="868680"/>
          </a:xfrm>
          <a:prstGeom prst="roundRect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00" b="1">
                <a:solidFill>
                  <a:srgbClr val="310F53"/>
                </a:solidFill>
                <a:latin typeface="Montserrat"/>
              </a:rPr>
              <a:t>Объяснения</a:t>
            </a:r>
          </a:p>
          <a:p>
            <a:pPr algn="ctr"/>
            <a:r>
              <a:rPr sz="700" b="0">
                <a:solidFill>
                  <a:srgbClr val="310F53"/>
                </a:solidFill>
                <a:latin typeface="Montserrat"/>
              </a:rPr>
              <a:t>и отчёты</a:t>
            </a:r>
          </a:p>
        </p:txBody>
      </p:sp>
      <p:cxnSp>
        <p:nvCxnSpPr>
          <p:cNvPr id="2052392216" name="Connector 2052392215"/>
          <p:cNvCxnSpPr/>
          <p:nvPr/>
        </p:nvCxnSpPr>
        <p:spPr>
          <a:xfrm>
            <a:off x="7498080" y="3584448"/>
            <a:ext cx="91440" cy="0"/>
          </a:xfrm>
          <a:prstGeom prst="line">
            <a:avLst/>
          </a:prstGeom>
          <a:ln w="2222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2392217" name="Rounded Rectangle 2052392216"/>
          <p:cNvSpPr/>
          <p:nvPr/>
        </p:nvSpPr>
        <p:spPr>
          <a:xfrm>
            <a:off x="8961120" y="3154680"/>
            <a:ext cx="1280160" cy="868680"/>
          </a:xfrm>
          <a:prstGeom prst="roundRect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00" b="1">
                <a:solidFill>
                  <a:srgbClr val="310F53"/>
                </a:solidFill>
                <a:latin typeface="Montserrat"/>
              </a:rPr>
              <a:t>Экспорт</a:t>
            </a:r>
          </a:p>
          <a:p>
            <a:pPr algn="ctr"/>
            <a:r>
              <a:rPr sz="700" b="0">
                <a:solidFill>
                  <a:srgbClr val="310F53"/>
                </a:solidFill>
                <a:latin typeface="Montserrat"/>
              </a:rPr>
              <a:t>в DXF</a:t>
            </a:r>
          </a:p>
        </p:txBody>
      </p:sp>
      <p:cxnSp>
        <p:nvCxnSpPr>
          <p:cNvPr id="2052392218" name="Connector 2052392217"/>
          <p:cNvCxnSpPr/>
          <p:nvPr/>
        </p:nvCxnSpPr>
        <p:spPr>
          <a:xfrm>
            <a:off x="8869680" y="3584448"/>
            <a:ext cx="91440" cy="0"/>
          </a:xfrm>
          <a:prstGeom prst="line">
            <a:avLst/>
          </a:prstGeom>
          <a:ln w="2222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2392219" name="Rounded Rectangle 2052392218"/>
          <p:cNvSpPr/>
          <p:nvPr/>
        </p:nvSpPr>
        <p:spPr>
          <a:xfrm>
            <a:off x="10332720" y="3154680"/>
            <a:ext cx="1280160" cy="868680"/>
          </a:xfrm>
          <a:prstGeom prst="roundRect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00" b="1">
                <a:solidFill>
                  <a:srgbClr val="310F53"/>
                </a:solidFill>
                <a:latin typeface="Montserrat"/>
              </a:rPr>
              <a:t>Независимая</a:t>
            </a:r>
          </a:p>
          <a:p>
            <a:pPr algn="ctr"/>
            <a:r>
              <a:rPr sz="700" b="0">
                <a:solidFill>
                  <a:srgbClr val="310F53"/>
                </a:solidFill>
                <a:latin typeface="Montserrat"/>
              </a:rPr>
              <a:t>проверка</a:t>
            </a:r>
          </a:p>
        </p:txBody>
      </p:sp>
      <p:cxnSp>
        <p:nvCxnSpPr>
          <p:cNvPr id="2052392220" name="Connector 2052392219"/>
          <p:cNvCxnSpPr/>
          <p:nvPr/>
        </p:nvCxnSpPr>
        <p:spPr>
          <a:xfrm>
            <a:off x="10241280" y="3584448"/>
            <a:ext cx="91440" cy="0"/>
          </a:xfrm>
          <a:prstGeom prst="line">
            <a:avLst/>
          </a:prstGeom>
          <a:ln w="2222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2392221" name="Connector 2052392220"/>
          <p:cNvCxnSpPr/>
          <p:nvPr/>
        </p:nvCxnSpPr>
        <p:spPr>
          <a:xfrm>
            <a:off x="6537960" y="2560320"/>
            <a:ext cx="0" cy="594360"/>
          </a:xfrm>
          <a:prstGeom prst="line">
            <a:avLst/>
          </a:prstGeom>
          <a:ln w="2222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2392222" name="Rounded Rectangle 2052392221"/>
          <p:cNvSpPr/>
          <p:nvPr/>
        </p:nvSpPr>
        <p:spPr>
          <a:xfrm>
            <a:off x="731520" y="4434840"/>
            <a:ext cx="5120640" cy="1005840"/>
          </a:xfrm>
          <a:prstGeom prst="roundRect">
            <a:avLst/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knowledge/ — справочники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ontserrat"/>
              </a:rPr>
              <a:t>57 норм с цитатами · ассортимент ДПиООС · словари слоёв · цены</a:t>
            </a:r>
          </a:p>
        </p:txBody>
      </p:sp>
      <p:sp>
        <p:nvSpPr>
          <p:cNvPr id="2052392223" name="Rounded Rectangle 2052392222"/>
          <p:cNvSpPr/>
          <p:nvPr/>
        </p:nvSpPr>
        <p:spPr>
          <a:xfrm>
            <a:off x="6126480" y="4434840"/>
            <a:ext cx="2651760" cy="1005840"/>
          </a:xfrm>
          <a:prstGeom prst="roundRect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ml — вне контура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ontserrat"/>
              </a:rPr>
              <a:t>обучение U-Net → model.onnx, опционально</a:t>
            </a:r>
          </a:p>
        </p:txBody>
      </p:sp>
      <p:sp>
        <p:nvSpPr>
          <p:cNvPr id="2052392224" name="Rounded Rectangle 2052392223"/>
          <p:cNvSpPr/>
          <p:nvPr/>
        </p:nvSpPr>
        <p:spPr>
          <a:xfrm>
            <a:off x="9052560" y="4434840"/>
            <a:ext cx="2560320" cy="1005840"/>
          </a:xfrm>
          <a:prstGeom prst="roundRect">
            <a:avLst/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Docker Compose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ontserrat"/>
              </a:rPr>
              <a:t>engine + web, офлайн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253771" name="Скругленный прямоугольник 11"/>
          <p:cNvSpPr/>
          <p:nvPr/>
        </p:nvSpPr>
        <p:spPr bwMode="auto">
          <a:xfrm>
            <a:off x="346075" y="324562"/>
            <a:ext cx="318566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560534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90802235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sz="1500" b="1">
                <a:solidFill>
                  <a:srgbClr val="FF0053"/>
                </a:solidFill>
              </a:rPr>
              <a:t>Чертежи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07521652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200">
                <a:solidFill>
                  <a:srgbClr val="1C1D22"/>
                </a:solidFill>
              </a:rPr>
              <a:t>главный DXF, геоподоснова и внешние ссылки; DWG переводится в DXF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63316025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sz="1500" b="1">
                <a:solidFill>
                  <a:srgbClr val="FF0053"/>
                </a:solidFill>
              </a:rPr>
              <a:t>Нормы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281000938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200">
                <a:solidFill>
                  <a:srgbClr val="1C1D22"/>
                </a:solidFill>
              </a:rPr>
              <a:t>зоны запрета и «условно с корнезащитой» от поверхности сетей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02817805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sz="1500" b="1">
                <a:solidFill>
                  <a:srgbClr val="FF0053"/>
                </a:solidFill>
              </a:rPr>
              <a:t>Выпуск и проверка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031766903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200">
                <a:solidFill>
                  <a:srgbClr val="1C1D22"/>
                </a:solidFill>
              </a:rPr>
              <a:t>слои AI_* в исходном DXF, отчёты, независимая проверка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51167203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sz="1500" b="1">
                <a:solidFill>
                  <a:srgbClr val="FF0053"/>
                </a:solidFill>
              </a:rPr>
              <a:t>Распознавание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511898359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200">
                <a:solidFill>
                  <a:srgbClr val="1C1D22"/>
                </a:solidFill>
              </a:rPr>
              <a:t>сети с диаметрами из подписей, газон, граница работ, здания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81647932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sz="1500" b="1">
                <a:solidFill>
                  <a:srgbClr val="FF0053"/>
                </a:solidFill>
              </a:rPr>
              <a:t>Посадки и породы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018160490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200">
                <a:solidFill>
                  <a:srgbClr val="1C1D22"/>
                </a:solidFill>
              </a:rPr>
              <a:t>места с нормативным шагом, порода по ассортименту, проверка кроны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355088654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757534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1925332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5416611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5432848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464601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201407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0359803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583873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4486789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1320482963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99258727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325235271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509827985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62187520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t>СХЕМА ПРОЦЕССА</a:t>
            </a:r>
            <a:endParaRPr lang="ru-RU"/>
          </a:p>
        </p:txBody>
      </p:sp>
      <p:sp>
        <p:nvSpPr>
          <p:cNvPr id="141754814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818971666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282018750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1791812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971521921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303244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37144739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99426520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034539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5994860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Нормы от поверхности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53331857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300">
                <a:solidFill>
                  <a:srgbClr val="1C1D22"/>
                </a:solidFill>
              </a:rPr>
              <a:t>Отступ по табл. 9.1 СП 42 меряется между наружными поверхностями трубы и ствола. Диаметр — из подписи на подоснове, у неподписанных сетей — консервативный. Крона шире 5 м увеличивает отступ; от ВЛ по ПУЭ — до края кроны.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81369580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Размещение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599247141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300">
                <a:solidFill>
                  <a:srgbClr val="1C1D22"/>
                </a:solidFill>
              </a:rPr>
              <a:t>Модель U-Net по 14 каналам участка подсказывает места и количество; композиция ставит ряды вдоль проезжей части, группы, солитёры, живые изгороди и массивы кустарника. Норматив ТСН — верхний предел, каждая точка перепроверяется точной геометрией.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64256274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Корнезащита и породы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17902268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300">
                <a:solidFill>
                  <a:srgbClr val="1C1D22"/>
                </a:solidFill>
              </a:rPr>
              <a:t>Ближе нормы — только с корнезащитой и не ближе 1 м: линия барьера пишется в DXF, длина — в ведомость. Порода — по ассортименту ДПиООС для категории территории; её крона снова проверяется нормами.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3076918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520978"/>
                </a:solidFill>
              </a:rPr>
              <a:t>КАК СЧИТАЮТСЯ ПОСАДКИ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72405520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01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1111331985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02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1756604799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03</a:t>
            </a: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501914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1152442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75925617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СЛОИ DXF</a:t>
            </a:r>
            <a:endParaRPr lang="ru-RU" sz="2000">
              <a:solidFill>
                <a:schemeClr val="accent5"/>
              </a:solidFill>
            </a:endParaRPr>
          </a:p>
        </p:txBody>
      </p:sp>
      <p:pic>
        <p:nvPicPr>
          <p:cNvPr id="1850491346" name="Рисунок 3" descr="kharkovskaya-zoom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3213" r="13213"/>
          <a:stretch>
            <a:fillRect/>
          </a:stretch>
        </p:blipFill>
        <p:spPr>
          <a:xfrm>
            <a:off x="6096001" y="0"/>
            <a:ext cx="6096000" cy="6857999"/>
          </a:xfrm>
        </p:spPr>
      </p:pic>
      <p:sp>
        <p:nvSpPr>
          <p:cNvPr id="1639727760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FF0053"/>
                </a:solidFill>
              </a:rPr>
              <a:t>Результат дописывается в исходный чертёж — не пересборка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520978"/>
                </a:solidFill>
              </a:rPr>
              <a:t>AI_PL_TREES_&lt;порода&gt; </a:t>
            </a:r>
            <a:r>
              <a:rPr sz="1300" b="0">
                <a:solidFill>
                  <a:srgbClr val="1C1D22"/>
                </a:solidFill>
              </a:rPr>
              <a:t>— деревья: блок с атрибутом ID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520978"/>
                </a:solidFill>
              </a:rPr>
              <a:t>AI_PL_BUSH_&lt;порода&gt; </a:t>
            </a:r>
            <a:r>
              <a:rPr sz="1300" b="0">
                <a:solidFill>
                  <a:srgbClr val="1C1D22"/>
                </a:solidFill>
              </a:rPr>
              <a:t>— кустарники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520978"/>
                </a:solidFill>
              </a:rPr>
              <a:t>AI_ZONE_* </a:t>
            </a:r>
            <a:r>
              <a:rPr sz="1300" b="0">
                <a:solidFill>
                  <a:srgbClr val="1C1D22"/>
                </a:solidFill>
              </a:rPr>
              <a:t>— зоны запрета и «условно»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520978"/>
                </a:solidFill>
              </a:rPr>
              <a:t>AI_ROOT_BARRIER </a:t>
            </a:r>
            <a:r>
              <a:rPr sz="1300" b="0">
                <a:solidFill>
                  <a:srgbClr val="1C1D22"/>
                </a:solidFill>
              </a:rPr>
              <a:t>— линии корнезащиты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520978"/>
                </a:solidFill>
              </a:rPr>
              <a:t>AI_REJECTED </a:t>
            </a:r>
            <a:r>
              <a:rPr sz="1300" b="0">
                <a:solidFill>
                  <a:srgbClr val="1C1D22"/>
                </a:solidFill>
              </a:rPr>
              <a:t>— отклонённые места с кодом причины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520978"/>
                </a:solidFill>
              </a:rPr>
              <a:t>AI_META </a:t>
            </a:r>
            <a:r>
              <a:rPr sz="1300" b="0">
                <a:solidFill>
                  <a:srgbClr val="1C1D22"/>
                </a:solidFill>
              </a:rPr>
              <a:t>— версия и параметры расчёта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  <a:defRPr/>
            </a:pPr>
            <a:r>
              <a:rPr sz="1300" b="0">
                <a:solidFill>
                  <a:srgbClr val="1C1D22"/>
                </a:solidFill>
              </a:rPr>
              <a:t>XDATA GREENPLAN связывает посадку с отчётом; отпечатки исходных сущностей доказывают, что подоснова не изменена.</a:t>
            </a:r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42493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ИНТЕРПРЕТИРУЕМОСТЬ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98954235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11155680" cy="712587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400" b="1">
                <a:solidFill>
                  <a:srgbClr val="520978"/>
                </a:solidFill>
              </a:rPr>
              <a:t>Посадка T-0114, Багрицкого · рябина обыкновенная — допустима условно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79855016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11155680" cy="712587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400" b="0">
                <a:solidFill>
                  <a:srgbClr val="1C1D22"/>
                </a:solidFill>
              </a:rPr>
              <a:t>Край проезжей части — 1,34 м при норме 2 м (СП 42.13330.2016, табл. 9.1): допустимо только с корнезащитой, и даже с ней не ближе 1 м — выполнено. Длина корнезащиты — 3,36 м.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876498844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11155680" cy="712587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400" b="0">
                <a:solidFill>
                  <a:srgbClr val="1C1D22"/>
                </a:solidFill>
              </a:rPr>
              <a:t>Наружная стена здания — 5,01 м при требуемых 5 м (СП 42.13330.2016, табл. 9.1, строка «Наружная стена здания и сооружения»).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00750186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11155680" cy="712587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400" b="0">
                <a:solidFill>
                  <a:srgbClr val="1C1D22"/>
                </a:solidFill>
              </a:rPr>
              <a:t>Порода — основной ассортимент ДПиООС для магистралей и внутриквартальных улиц; рассмотрены липа и клён: при своей кроне не проходят нормы.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87981503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11155680" cy="712587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400" b="1">
                <a:solidFill>
                  <a:srgbClr val="FF0053"/>
                </a:solidFill>
              </a:rPr>
              <a:t>Отказ другой точки: </a:t>
            </a:r>
            <a:r>
              <a:rPr sz="1400" b="0">
                <a:solidFill>
                  <a:srgbClr val="1C1D22"/>
                </a:solidFill>
              </a:rPr>
              <a:t>силовой кабель — поверхности пересекаются на 0,29 м, а даже с корнезащитой нужно не меньше 1 м; диаметр не подписан — принят консервативный.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00043498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171525679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1070433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9241957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8483726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3418580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63418581" name="TextBox 2063418580"/>
          <p:cNvSpPr txBox="1"/>
          <p:nvPr/>
        </p:nvSpPr>
        <p:spPr>
          <a:xfrm>
            <a:off x="548640" y="5989320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20978"/>
                </a:solidFill>
                <a:latin typeface="Montserrat"/>
              </a:rPr>
              <a:t>Номер пункта печатается только у цитат, сверенных по официальному тексту; числа в тексте совпадают с машиночитаемым отчётом — это проверяет тест.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39219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2332030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05935545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 marL="0" indent="0">
              <a:buNone/>
              <a:defRPr/>
            </a:pPr>
            <a:r>
              <a:t>ДО И ПОСЛЕ: ХАРЬКОВСКАЯ УЛИЦА</a:t>
            </a:r>
            <a:endParaRPr lang="ru-RU" sz="3600">
              <a:solidFill>
                <a:schemeClr val="bg1"/>
              </a:solidFill>
            </a:endParaRPr>
          </a:p>
        </p:txBody>
      </p:sp>
      <p:pic>
        <p:nvPicPr>
          <p:cNvPr id="2052392199" name="Picture 2052392198" descr="kharkovskaya-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806138"/>
            <a:ext cx="5440680" cy="3291442"/>
          </a:xfrm>
          <a:prstGeom prst="rect">
            <a:avLst/>
          </a:prstGeom>
        </p:spPr>
      </p:pic>
      <p:pic>
        <p:nvPicPr>
          <p:cNvPr id="2052392200" name="Picture 2052392199" descr="kharkovskaya-after.png"/>
          <p:cNvPicPr>
            <a:picLocks noChangeAspect="1"/>
          </p:cNvPicPr>
          <p:nvPr/>
        </p:nvPicPr>
        <p:blipFill>
          <a:blip r:embed="rId5"/>
          <a:srcRect l="592" r="592"/>
          <a:stretch>
            <a:fillRect/>
          </a:stretch>
        </p:blipFill>
        <p:spPr>
          <a:xfrm>
            <a:off x="6172200" y="1806138"/>
            <a:ext cx="5440680" cy="3291442"/>
          </a:xfrm>
          <a:prstGeom prst="rect">
            <a:avLst/>
          </a:prstGeom>
        </p:spPr>
      </p:pic>
      <p:sp>
        <p:nvSpPr>
          <p:cNvPr id="2052392201" name="TextBox 2052392200"/>
          <p:cNvSpPr txBox="1"/>
          <p:nvPr/>
        </p:nvSpPr>
        <p:spPr>
          <a:xfrm>
            <a:off x="594360" y="5532120"/>
            <a:ext cx="544068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C1D22"/>
                </a:solidFill>
                <a:latin typeface="Montserrat"/>
              </a:rPr>
              <a:t>До: </a:t>
            </a:r>
            <a:r>
              <a:rPr sz="1100" b="0">
                <a:solidFill>
                  <a:srgbClr val="1C1D22"/>
                </a:solidFill>
                <a:latin typeface="Montserrat"/>
              </a:rPr>
              <a:t>газон, граница работ и подземные сети, распознанные из подосновы</a:t>
            </a:r>
          </a:p>
        </p:txBody>
      </p:sp>
      <p:sp>
        <p:nvSpPr>
          <p:cNvPr id="2052392202" name="TextBox 2052392201"/>
          <p:cNvSpPr txBox="1"/>
          <p:nvPr/>
        </p:nvSpPr>
        <p:spPr>
          <a:xfrm>
            <a:off x="6172200" y="5532120"/>
            <a:ext cx="544068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C1D22"/>
                </a:solidFill>
                <a:latin typeface="Montserrat"/>
              </a:rPr>
              <a:t>После: </a:t>
            </a:r>
            <a:r>
              <a:rPr sz="1100" b="0">
                <a:solidFill>
                  <a:srgbClr val="1C1D22"/>
                </a:solidFill>
                <a:latin typeface="Montserrat"/>
              </a:rPr>
              <a:t>132 дерева, 529 кустарников, 279 отказов с причиной; розовое — зоны запрета; нарушений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39219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2332030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05935545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 marL="0" indent="0">
              <a:buNone/>
              <a:defRPr/>
            </a:pPr>
            <a:r>
              <a:t>СРАВНЕНИЕ С ПРОЕКТОМ: ХАРЬКОВСКАЯ</a:t>
            </a:r>
            <a:endParaRPr lang="ru-RU" sz="3600">
              <a:solidFill>
                <a:schemeClr val="bg1"/>
              </a:solidFill>
            </a:endParaRPr>
          </a:p>
        </p:txBody>
      </p:sp>
      <p:pic>
        <p:nvPicPr>
          <p:cNvPr id="2052392199" name="Picture 2052392198" descr="kharkovskaya_panel0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33067"/>
            <a:ext cx="3639312" cy="2311705"/>
          </a:xfrm>
          <a:prstGeom prst="rect">
            <a:avLst/>
          </a:prstGeom>
        </p:spPr>
      </p:pic>
      <p:pic>
        <p:nvPicPr>
          <p:cNvPr id="2052392200" name="Picture 2052392199" descr="kharkovskaya_panel1_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634227"/>
            <a:ext cx="3639312" cy="2309384"/>
          </a:xfrm>
          <a:prstGeom prst="rect">
            <a:avLst/>
          </a:prstGeom>
        </p:spPr>
      </p:pic>
      <p:pic>
        <p:nvPicPr>
          <p:cNvPr id="2052392201" name="Picture 2052392200" descr="kharkovskaya_panel2_tr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634227"/>
            <a:ext cx="3639312" cy="2309384"/>
          </a:xfrm>
          <a:prstGeom prst="rect">
            <a:avLst/>
          </a:prstGeom>
        </p:spPr>
      </p:pic>
      <p:sp>
        <p:nvSpPr>
          <p:cNvPr id="2052392202" name="TextBox 2052392201"/>
          <p:cNvSpPr txBox="1"/>
          <p:nvPr/>
        </p:nvSpPr>
        <p:spPr>
          <a:xfrm>
            <a:off x="566928" y="4343400"/>
            <a:ext cx="11064240" cy="1554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Деревья: </a:t>
            </a:r>
            <a:r>
              <a:rPr sz="1200" b="0">
                <a:solidFill>
                  <a:srgbClr val="1C1D22"/>
                </a:solidFill>
                <a:latin typeface="Montserrat"/>
              </a:rPr>
              <a:t>в проекте 137, у нас 132 по нормативу и 154 с превышением; в рядах 41 % в проекте и 36 % у нас, в группах — 64 % и 76 %.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Кустарник: </a:t>
            </a:r>
            <a:r>
              <a:rPr sz="1200" b="0">
                <a:solidFill>
                  <a:srgbClr val="1C1D22"/>
                </a:solidFill>
                <a:latin typeface="Montserrat"/>
              </a:rPr>
              <a:t>в проекте 8 147 — в разы больше норматива ТСН; по нормативу 529, с галочкой превышения 2 234, 92 % в плотных группах (в проекте 100 %).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Поштучное совпадение </a:t>
            </a:r>
            <a:r>
              <a:rPr sz="1200" b="0">
                <a:solidFill>
                  <a:srgbClr val="1C1D22"/>
                </a:solidFill>
                <a:latin typeface="Montserrat"/>
              </a:rPr>
              <a:t>деревьев (F1 при 5 м): 0,31 у модели с композицией, 0,39 у правил — проектировщики сажают и там, где нормы запрещают (аудит далее), поэтому точного совпадения не бывает.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767011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35695925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82211730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53014875" name="Скругленный прямоугольник 1"/>
          <p:cNvSpPr/>
          <p:nvPr/>
        </p:nvSpPr>
        <p:spPr bwMode="auto">
          <a:xfrm>
            <a:off x="346075" y="324562"/>
            <a:ext cx="446836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73156279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15</a:t>
            </a:fld>
            <a:endParaRPr lang="ru-RU"/>
          </a:p>
        </p:txBody>
      </p:sp>
      <p:sp>
        <p:nvSpPr>
          <p:cNvPr id="1907558829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sz="2200" b="1">
                <a:solidFill>
                  <a:srgbClr val="FF0053"/>
                </a:solidFill>
              </a:rPr>
              <a:t>0 нарушений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395148327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300">
                <a:solidFill>
                  <a:srgbClr val="1C1D22"/>
                </a:solidFill>
              </a:rPr>
              <a:t>независимая проверка на 19 объектах пилота; исходные чертежи не изменены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30966355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sz="2200" b="1">
                <a:solidFill>
                  <a:srgbClr val="FF0053"/>
                </a:solidFill>
              </a:rPr>
              <a:t>34 минуты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019425313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300">
                <a:solidFill>
                  <a:srgbClr val="1C1D22"/>
                </a:solidFill>
              </a:rPr>
              <a:t>все 19 объектов на ноутбуке в 3 процесса; самый тяжёлый — 10,4 мин при бюджете 30 мин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22972820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sz="2200" b="1">
                <a:solidFill>
                  <a:srgbClr val="FF0053"/>
                </a:solidFill>
              </a:rPr>
              <a:t>2,2 ГБ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579887994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300">
                <a:solidFill>
                  <a:srgbClr val="1C1D22"/>
                </a:solidFill>
              </a:rPr>
              <a:t>пиковая память процесса при бюджете 8 ГБ; в Docker на Linux — те же посадки</a:t>
            </a:r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1644947593" name="Диаграмма 9"/>
          <p:cNvGraphicFramePr>
            <a:graphicFrameLocks/>
          </p:cNvGraphicFramePr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3119606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4312920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t>РЕЗУЛЬТАТЫ НА ДАТАСЕТЕ</a:t>
            </a:r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72945" name="Скругленный прямоугольник 1"/>
          <p:cNvSpPr/>
          <p:nvPr/>
        </p:nvSpPr>
        <p:spPr bwMode="auto">
          <a:xfrm>
            <a:off x="346075" y="324562"/>
            <a:ext cx="502589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27054142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189436658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Тот же контроль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11789204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200">
                <a:solidFill>
                  <a:srgbClr val="1C1D22"/>
                </a:solidFill>
              </a:rPr>
              <a:t>эталонные проекты датасета проверены теми же правилами и измерениями, что и наш результат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643752750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27–82 %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25343531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200">
                <a:solidFill>
                  <a:srgbClr val="1C1D22"/>
                </a:solidFill>
              </a:rPr>
              <a:t>посадок эталона ближе табличного расстояния на 6 объектах из 8 проверенных с сетями в подоснове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97387233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Чаще всего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324335634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200">
                <a:solidFill>
                  <a:srgbClr val="1C1D22"/>
                </a:solidFill>
              </a:rPr>
              <a:t>кустарник ближе 0,7 м к кабелям и 1 м к теплосети (СП 42, табл. 9.1); 171 дерево — ближе к ВЛ, чем допускает ПУЭ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12367442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Оговорки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789921067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200">
                <a:solidFill>
                  <a:srgbClr val="1C1D22"/>
                </a:solidFill>
              </a:rPr>
              <a:t>диаметр неподписанных сетей консервативный — нарушения могут быть завышены; объекты без сетей не показаны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938533741" name="Диаграмма 11"/>
          <p:cNvGraphicFramePr>
            <a:graphicFrameLocks/>
          </p:cNvGraphicFramePr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4221238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t>АУДИТ ЭТАЛОННЫХ ПРОЕКТОВ</a:t>
            </a:r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00171" name="Скругленный прямоугольник 1"/>
          <p:cNvSpPr/>
          <p:nvPr/>
        </p:nvSpPr>
        <p:spPr bwMode="auto">
          <a:xfrm>
            <a:off x="346075" y="324562"/>
            <a:ext cx="404926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793253186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localhost:8080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487703927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localhost:8000/docs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1929325048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190725630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sz="1300" b="1">
                <a:solidFill>
                  <a:srgbClr val="520978"/>
                </a:solidFill>
              </a:rPr>
              <a:t>Веб на ASP.NET Core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r>
              <a:rPr sz="1300" b="0">
                <a:solidFill>
                  <a:srgbClr val="1C1D22"/>
                </a:solidFill>
              </a:rPr>
              <a:t>загрузка DXF, DWG или .zip, категория территории и параметры расчёта прямо в форме; статус, итоги, превью и все файлы результата; светлая и тёмная тема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97648829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sz="1300" b="1">
                <a:solidFill>
                  <a:srgbClr val="520978"/>
                </a:solidFill>
              </a:rPr>
              <a:t>API со Swagger и CLI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r>
              <a:rPr sz="1300" b="0">
                <a:solidFill>
                  <a:srgbClr val="1C1D22"/>
                </a:solidFill>
              </a:rPr>
              <a:t>POST /api/v1/jobs → статус → файлы; greenplan run, verify, batch; docker compose up — движок :8000, веб :8080, расчёт офлайн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1133720529" name="Рисунок 4" descr="web-job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35" r="35"/>
          <a:stretch>
            <a:fillRect/>
          </a:stretch>
        </p:blipFill>
        <p:spPr>
          <a:xfrm>
            <a:off x="1210642" y="1577998"/>
            <a:ext cx="4121688" cy="2283975"/>
          </a:xfrm>
        </p:spPr>
      </p:pic>
      <p:pic>
        <p:nvPicPr>
          <p:cNvPr id="807397600" name="Рисунок 5" descr="swagger.png"/>
          <p:cNvPicPr>
            <a:picLocks noGrp="1" noChangeAspect="1"/>
          </p:cNvPicPr>
          <p:nvPr>
            <p:ph type="pic" sz="quarter" idx="18"/>
          </p:nvPr>
        </p:nvPicPr>
        <p:blipFill>
          <a:blip r:embed="rId5"/>
          <a:srcRect b="20204"/>
          <a:stretch>
            <a:fillRect/>
          </a:stretch>
        </p:blipFill>
        <p:spPr>
          <a:xfrm>
            <a:off x="6855540" y="1577998"/>
            <a:ext cx="4121688" cy="2283975"/>
          </a:xfrm>
        </p:spPr>
      </p:pic>
      <p:sp>
        <p:nvSpPr>
          <p:cNvPr id="100627641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t>ЗАПУСК И ИНТЕРФЕЙСЫ</a:t>
            </a:r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39219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2332030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05935545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 marL="0" indent="0">
              <a:buNone/>
              <a:defRPr/>
            </a:pPr>
            <a:r>
              <a:t>РЕЗУЛЬТАТ НА САЙТЕ</a:t>
            </a:r>
            <a:endParaRPr lang="ru-RU" sz="3600">
              <a:solidFill>
                <a:schemeClr val="bg1"/>
              </a:solidFill>
            </a:endParaRPr>
          </a:p>
        </p:txBody>
      </p:sp>
      <p:pic>
        <p:nvPicPr>
          <p:cNvPr id="2052392199" name="Picture 2052392198" descr="web-job-kharkovskaya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15" y="1481328"/>
            <a:ext cx="6532384" cy="4617720"/>
          </a:xfrm>
          <a:prstGeom prst="rect">
            <a:avLst/>
          </a:prstGeom>
        </p:spPr>
      </p:pic>
      <p:sp>
        <p:nvSpPr>
          <p:cNvPr id="2052392200" name="TextBox 2052392199"/>
          <p:cNvSpPr txBox="1"/>
          <p:nvPr/>
        </p:nvSpPr>
        <p:spPr>
          <a:xfrm>
            <a:off x="7635240" y="1737360"/>
            <a:ext cx="3977639" cy="4206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Харьковская улица, </a:t>
            </a:r>
            <a:r>
              <a:rPr sz="1400" b="0">
                <a:solidFill>
                  <a:srgbClr val="1C1D22"/>
                </a:solidFill>
                <a:latin typeface="Montserrat"/>
              </a:rPr>
              <a:t>архив DWG с подосновой — расчёт в Docker на Linux за 7 минут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132 дерева, 529 кустарников</a:t>
            </a:r>
            <a:r>
              <a:rPr sz="1400" b="0">
                <a:solidFill>
                  <a:srgbClr val="1C1D22"/>
                </a:solidFill>
                <a:latin typeface="Montserrat"/>
              </a:rPr>
              <a:t>, 279 отказов с объяснением, нарушений 0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Как на Windows: </a:t>
            </a:r>
            <a:r>
              <a:rPr sz="1400" b="0">
                <a:solidFill>
                  <a:srgbClr val="1C1D22"/>
                </a:solidFill>
                <a:latin typeface="Montserrat"/>
              </a:rPr>
              <a:t>совпали координаты, статусы и породы каждой посадки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Итог: </a:t>
            </a:r>
            <a:r>
              <a:rPr sz="1400" b="0">
                <a:solidFill>
                  <a:srgbClr val="1C1D22"/>
                </a:solidFill>
                <a:latin typeface="Montserrat"/>
              </a:rPr>
              <a:t>композиция, польза, журнал агентов, предупреждения; DXF со слоями AI_* и отчёты — в один клик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263689" name="Скругленный прямоугольник 9"/>
          <p:cNvSpPr/>
          <p:nvPr/>
        </p:nvSpPr>
        <p:spPr bwMode="auto">
          <a:xfrm>
            <a:off x="346075" y="324562"/>
            <a:ext cx="454329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9646735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86046502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06972651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04868637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08769177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33316930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Данные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9051033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300">
                <a:solidFill>
                  <a:srgbClr val="1C1D22"/>
                </a:solidFill>
              </a:rPr>
              <a:t>Качество зависит от подосновы: у 5 из 19 объектов в выданных файлах нет сетей — сервис предупреждает, что такой план нельзя согласовывать.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4076255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Нормы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2314587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300">
                <a:solidFill>
                  <a:srgbClr val="1C1D22"/>
                </a:solidFill>
              </a:rPr>
              <a:t>Охранные зоны по ответу постановщика отключены, но включаются флагом; напряжение ВЛ по чертежу не определяется — 10 кВ или из настроек; ООПТ — при наличии границ.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81867082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Модель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9630077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300">
                <a:solidFill>
                  <a:srgbClr val="1C1D22"/>
                </a:solidFill>
              </a:rPr>
              <a:t>U-Net подсказывает места и форму посадок; на объектах других подрядчиков занижает число деревьев — количество ограничено снизу долей норматива, режим «по правилам» — одной галочкой.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76204965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Внедрение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616368816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sz="1300">
                <a:solidFill>
                  <a:srgbClr val="1C1D22"/>
                </a:solidFill>
              </a:rPr>
              <a:t>Пилот на нескольких улицах → пакетная проверка программы благоустройства → сервис в контуре ДПиООС через API.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731138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t>ОГРАНИЧЕНИЯ И РАЗВИТИЕ</a:t>
            </a:r>
            <a:endParaRPr lang="ru-RU"/>
          </a:p>
        </p:txBody>
      </p:sp>
      <p:sp>
        <p:nvSpPr>
          <p:cNvPr id="1649821169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620678523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4617260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87760045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645115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30348192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 marL="0" indent="0">
              <a:spcAft>
                <a:spcPts val="1000"/>
              </a:spcAft>
              <a:buNone/>
              <a:defRPr/>
            </a:pPr>
            <a:r>
              <a:rPr sz="1800" b="1" dirty="0" err="1">
                <a:solidFill>
                  <a:srgbClr val="520978"/>
                </a:solidFill>
              </a:rPr>
              <a:t>GreenMoscow · команда «Команда»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spcAft>
                <a:spcPts val="1000"/>
              </a:spcAft>
              <a:buNone/>
              <a:defRPr/>
            </a:pPr>
            <a:r>
              <a:rPr sz="1800" b="0" dirty="0" err="1">
                <a:solidFill>
                  <a:srgbClr val="1C1D22"/>
                </a:solidFill>
              </a:rPr>
              <a:t>Репозиторий</a:t>
            </a:r>
            <a:r>
              <a:rPr sz="1800" b="0" dirty="0">
                <a:solidFill>
                  <a:srgbClr val="1C1D22"/>
                </a:solidFill>
              </a:rPr>
              <a:t>:</a:t>
            </a:r>
            <a:r>
              <a:rPr lang="ru-RU" sz="1800" dirty="0">
                <a:solidFill>
                  <a:srgbClr val="1C1D22"/>
                </a:solidFill>
              </a:rPr>
              <a:t> </a:t>
            </a:r>
            <a:r>
              <a:rPr lang="en-US" sz="1800" dirty="0">
                <a:solidFill>
                  <a:srgbClr val="1C1D22"/>
                </a:solidFill>
                <a:hlinkClick r:id="rId4"/>
              </a:rPr>
              <a:t>https://github.com/Ov3rl0rd1/GreenMoscow</a:t>
            </a:r>
            <a:endParaRPr lang="en-US" sz="1800" dirty="0">
              <a:solidFill>
                <a:srgbClr val="1C1D22"/>
              </a:solidFill>
            </a:endParaRPr>
          </a:p>
          <a:p>
            <a:pPr marL="0" indent="0">
              <a:spcAft>
                <a:spcPts val="1000"/>
              </a:spcAft>
              <a:buNone/>
              <a:defRPr/>
            </a:pPr>
            <a:r>
              <a:rPr sz="1800" b="0" dirty="0" err="1">
                <a:solidFill>
                  <a:srgbClr val="1C1D22"/>
                </a:solidFill>
              </a:rPr>
              <a:t>Демонстрация</a:t>
            </a:r>
            <a:r>
              <a:rPr sz="1800" b="0" dirty="0">
                <a:solidFill>
                  <a:srgbClr val="1C1D22"/>
                </a:solidFill>
              </a:rPr>
              <a:t>: </a:t>
            </a:r>
            <a:r>
              <a:rPr lang="en-US" sz="1800" dirty="0">
                <a:solidFill>
                  <a:srgbClr val="1C1D22"/>
                </a:solidFill>
              </a:rPr>
              <a:t>https://github.com/Ov3rl0rd1/GreenMoscow-data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spcAft>
                <a:spcPts val="1000"/>
              </a:spcAft>
              <a:buNone/>
              <a:defRPr/>
            </a:pPr>
            <a:r>
              <a:rPr sz="1800" b="0" dirty="0" err="1">
                <a:solidFill>
                  <a:srgbClr val="1C1D22"/>
                </a:solidFill>
              </a:rPr>
              <a:t>Контакты</a:t>
            </a:r>
            <a:r>
              <a:rPr sz="1800" b="0" dirty="0">
                <a:solidFill>
                  <a:srgbClr val="1C1D22"/>
                </a:solidFill>
              </a:rPr>
              <a:t>: </a:t>
            </a:r>
            <a:r>
              <a:rPr lang="ru-RU" sz="1800" b="0" dirty="0">
                <a:solidFill>
                  <a:srgbClr val="1C1D22"/>
                </a:solidFill>
                <a:hlinkClick r:id="rId5"/>
              </a:rPr>
              <a:t>nrbudanov123@gmail.com</a:t>
            </a:r>
            <a:r>
              <a:rPr lang="ru-RU" sz="1800" b="0" dirty="0">
                <a:solidFill>
                  <a:srgbClr val="1C1D22"/>
                </a:solidFill>
              </a:rPr>
              <a:t>, @</a:t>
            </a:r>
            <a:r>
              <a:rPr lang="en-US" sz="1800" b="0" dirty="0">
                <a:solidFill>
                  <a:srgbClr val="1C1D22"/>
                </a:solidFill>
              </a:rPr>
              <a:t>n</a:t>
            </a:r>
            <a:r>
              <a:rPr lang="ru-RU" sz="1800" b="0" dirty="0">
                <a:solidFill>
                  <a:srgbClr val="1C1D22"/>
                </a:solidFill>
              </a:rPr>
              <a:t>o</a:t>
            </a:r>
            <a:r>
              <a:rPr lang="en-US" sz="1800" b="0" dirty="0">
                <a:solidFill>
                  <a:srgbClr val="1C1D22"/>
                </a:solidFill>
              </a:rPr>
              <a:t>t</a:t>
            </a:r>
            <a:r>
              <a:rPr lang="ru-RU" sz="1800" b="0" dirty="0">
                <a:solidFill>
                  <a:srgbClr val="1C1D22"/>
                </a:solidFill>
              </a:rPr>
              <a:t>_</a:t>
            </a:r>
            <a:r>
              <a:rPr lang="en-US" sz="1800" b="0" dirty="0">
                <a:solidFill>
                  <a:srgbClr val="1C1D22"/>
                </a:solidFill>
              </a:rPr>
              <a:t>g</a:t>
            </a:r>
            <a:r>
              <a:rPr lang="ru-RU" sz="1800" b="0" dirty="0">
                <a:solidFill>
                  <a:srgbClr val="1C1D22"/>
                </a:solidFill>
              </a:rPr>
              <a:t>r</a:t>
            </a:r>
            <a:r>
              <a:rPr lang="en-US" sz="1800" b="0" dirty="0" err="1">
                <a:solidFill>
                  <a:srgbClr val="1C1D22"/>
                </a:solidFill>
              </a:rPr>
              <a:t>i</a:t>
            </a:r>
            <a:r>
              <a:rPr lang="ru-RU" sz="1800" b="0" dirty="0">
                <a:solidFill>
                  <a:srgbClr val="1C1D22"/>
                </a:solidFill>
              </a:rPr>
              <a:t>f</a:t>
            </a:r>
            <a:r>
              <a:rPr lang="en-US" sz="1800" b="0" dirty="0">
                <a:solidFill>
                  <a:srgbClr val="1C1D22"/>
                </a:solidFill>
              </a:rPr>
              <a:t>f</a:t>
            </a:r>
            <a:r>
              <a:rPr lang="ru-RU" sz="1800" b="0" dirty="0">
                <a:solidFill>
                  <a:srgbClr val="1C1D22"/>
                </a:solidFill>
              </a:rPr>
              <a:t>i</a:t>
            </a:r>
            <a:r>
              <a:rPr lang="en-US" sz="1800" b="0" dirty="0">
                <a:solidFill>
                  <a:srgbClr val="1C1D22"/>
                </a:solidFill>
              </a:rPr>
              <a:t>t</a:t>
            </a:r>
            <a:r>
              <a:rPr lang="ru-RU" sz="1800" b="0" dirty="0">
                <a:solidFill>
                  <a:srgbClr val="1C1D22"/>
                </a:solidFill>
              </a:rPr>
              <a:t>h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4241658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20</a:t>
            </a:fld>
            <a:endParaRPr lang="ru-RU"/>
          </a:p>
        </p:txBody>
      </p:sp>
      <p:sp>
        <p:nvSpPr>
          <p:cNvPr id="117015581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 marL="0" indent="0">
              <a:buNone/>
              <a:defRPr/>
            </a:pPr>
            <a:r>
              <a:rPr sz="3600" b="1">
                <a:solidFill>
                  <a:srgbClr val="520978"/>
                </a:solidFill>
              </a:rPr>
              <a:t>СПАСИБО</a:t>
            </a:r>
            <a:endParaRPr lang="ru-RU"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2330</Words>
  <Application>Microsoft Office PowerPoint</Application>
  <PresentationFormat>Widescreen</PresentationFormat>
  <Paragraphs>248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Lato Light</vt:lpstr>
      <vt:lpstr>Montserrat</vt:lpstr>
      <vt:lpstr>Poppins Light</vt:lpstr>
      <vt:lpstr>Wingdings</vt:lpstr>
      <vt:lpstr>Для Академия инноваторов 16_9</vt:lpstr>
      <vt:lpstr>КОМАНДА (да, это настоящее название) </vt:lpstr>
      <vt:lpstr>GreenMoscow</vt:lpstr>
      <vt:lpstr>КОМАНДА</vt:lpstr>
      <vt:lpstr>О КОМАНДЕ И ЗАДАЧЕ</vt:lpstr>
      <vt:lpstr>КОРОТКО О РЕШЕНИИ</vt:lpstr>
      <vt:lpstr>ПРОБЛЕМА И РЕШЕНИЕ</vt:lpstr>
      <vt:lpstr>ВХОД И ВЫХОД</vt:lpstr>
      <vt:lpstr>АРХИТЕКТУРА</vt:lpstr>
      <vt:lpstr>СХЕМА ПРОЦЕССА</vt:lpstr>
      <vt:lpstr>КАК СЧИТАЮТСЯ ПОСАДКИ</vt:lpstr>
      <vt:lpstr>СЛОИ DXF</vt:lpstr>
      <vt:lpstr>ИНТЕРПРЕТИРУЕМОСТЬ</vt:lpstr>
      <vt:lpstr>ДО И ПОСЛЕ: ХАРЬКОВСКАЯ УЛИЦА</vt:lpstr>
      <vt:lpstr>СРАВНЕНИЕ С ПРОЕКТОМ: ХАРЬКОВСКАЯ</vt:lpstr>
      <vt:lpstr>РЕЗУЛЬТАТЫ НА ДАТАСЕТЕ</vt:lpstr>
      <vt:lpstr>АУДИТ ЭТАЛОННЫХ ПРОЕКТОВ</vt:lpstr>
      <vt:lpstr>ЗАПУСК И ИНТЕРФЕЙСЫ</vt:lpstr>
      <vt:lpstr>РЕЗУЛЬТАТ НА САЙТЕ</vt:lpstr>
      <vt:lpstr>ОГРАНИЧЕНИЯ И РАЗВИТИЕ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GreenMoscow</dc:title>
  <dc:creator>Анастасия Юшкова</dc:creator>
  <cp:lastModifiedBy>box vir</cp:lastModifiedBy>
  <cp:revision>99</cp:revision>
  <dcterms:created xsi:type="dcterms:W3CDTF">2023-05-15T07:36:23Z</dcterms:created>
  <dcterms:modified xsi:type="dcterms:W3CDTF">2026-09-29T20:01:46Z</dcterms:modified>
</cp:coreProperties>
</file>